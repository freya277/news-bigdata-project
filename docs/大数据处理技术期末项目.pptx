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6" r:id="rId3"/>
    <p:sldId id="3070" r:id="rId5"/>
    <p:sldId id="3105" r:id="rId6"/>
    <p:sldId id="3104" r:id="rId7"/>
    <p:sldId id="3106" r:id="rId8"/>
    <p:sldId id="3117" r:id="rId9"/>
    <p:sldId id="3120" r:id="rId10"/>
    <p:sldId id="3121" r:id="rId11"/>
    <p:sldId id="3135" r:id="rId12"/>
    <p:sldId id="3136" r:id="rId13"/>
    <p:sldId id="3137" r:id="rId14"/>
    <p:sldId id="3108" r:id="rId15"/>
    <p:sldId id="3109" r:id="rId16"/>
    <p:sldId id="3110" r:id="rId17"/>
    <p:sldId id="3111" r:id="rId18"/>
    <p:sldId id="3119" r:id="rId19"/>
    <p:sldId id="3134" r:id="rId20"/>
    <p:sldId id="3113" r:id="rId21"/>
    <p:sldId id="3115" r:id="rId22"/>
    <p:sldId id="3116" r:id="rId23"/>
    <p:sldId id="3138" r:id="rId24"/>
    <p:sldId id="3139" r:id="rId25"/>
    <p:sldId id="3140" r:id="rId26"/>
    <p:sldId id="3122" r:id="rId27"/>
    <p:sldId id="3118" r:id="rId28"/>
    <p:sldId id="3123" r:id="rId29"/>
    <p:sldId id="3127" r:id="rId30"/>
    <p:sldId id="3126" r:id="rId31"/>
    <p:sldId id="3129" r:id="rId32"/>
    <p:sldId id="3141" r:id="rId33"/>
    <p:sldId id="3130" r:id="rId34"/>
    <p:sldId id="3142" r:id="rId35"/>
    <p:sldId id="3131" r:id="rId36"/>
    <p:sldId id="3133" r:id="rId37"/>
    <p:sldId id="2703" r:id="rId38"/>
  </p:sldIdLst>
  <p:sldSz cx="12192000" cy="6858000"/>
  <p:notesSz cx="6794500" cy="99314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5" userDrawn="1">
          <p15:clr>
            <a:srgbClr val="A4A3A4"/>
          </p15:clr>
        </p15:guide>
        <p15:guide id="2" pos="7244" userDrawn="1">
          <p15:clr>
            <a:srgbClr val="A4A3A4"/>
          </p15:clr>
        </p15:guide>
        <p15:guide id="3" orient="horz" pos="638" userDrawn="1">
          <p15:clr>
            <a:srgbClr val="A4A3A4"/>
          </p15:clr>
        </p15:guide>
        <p15:guide id="4" orient="horz" pos="742" userDrawn="1">
          <p15:clr>
            <a:srgbClr val="A4A3A4"/>
          </p15:clr>
        </p15:guide>
        <p15:guide id="6" orient="horz" pos="38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郭 玮" initials="郭" lastIdx="1" clrIdx="0"/>
  <p:cmAuthor id="2" name="zz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FBB"/>
    <a:srgbClr val="CEF6E0"/>
    <a:srgbClr val="3392F4"/>
    <a:srgbClr val="CDDCFB"/>
    <a:srgbClr val="D6B2DC"/>
    <a:srgbClr val="7C2326"/>
    <a:srgbClr val="FF9900"/>
    <a:srgbClr val="FF0000"/>
    <a:srgbClr val="E8EEFD"/>
    <a:srgbClr val="934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6" autoAdjust="0"/>
    <p:restoredTop sz="48069" autoAdjust="0"/>
  </p:normalViewPr>
  <p:slideViewPr>
    <p:cSldViewPr snapToGrid="0" showGuides="1">
      <p:cViewPr varScale="1">
        <p:scale>
          <a:sx n="39" d="100"/>
          <a:sy n="39" d="100"/>
        </p:scale>
        <p:origin x="2304" y="38"/>
      </p:cViewPr>
      <p:guideLst>
        <p:guide pos="315"/>
        <p:guide pos="7244"/>
        <p:guide orient="horz" pos="638"/>
        <p:guide orient="horz" pos="742"/>
        <p:guide orient="horz" pos="38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61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1ACA8-7CD0-478E-8890-95D9BB2767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CA5F2-0912-419A-BF14-93C024BC72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BE6FB-4983-42F5-B216-1A2ADEE7DF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大家好，我们小组的实验项目是新闻大数据多维分析与挖掘。下面我们将分别从</a:t>
            </a:r>
            <a:r>
              <a:rPr lang="en-US" altLang="zh-CN" sz="1200">
                <a:solidFill>
                  <a:srgbClr val="7C1D20"/>
                </a:solidFill>
                <a:latin typeface="+mj-ea"/>
              </a:rPr>
              <a:t>MapReduce</a:t>
            </a:r>
            <a:r>
              <a:rPr lang="zh-CN" altLang="en-US" sz="1200">
                <a:solidFill>
                  <a:srgbClr val="7C1D20"/>
                </a:solidFill>
                <a:latin typeface="+mj-ea"/>
              </a:rPr>
              <a:t>、</a:t>
            </a:r>
            <a:r>
              <a:rPr lang="en-US" altLang="zh-CN" sz="1200">
                <a:solidFill>
                  <a:srgbClr val="7C1D20"/>
                </a:solidFill>
                <a:latin typeface="+mj-ea"/>
              </a:rPr>
              <a:t>Hive</a:t>
            </a:r>
            <a:r>
              <a:rPr lang="zh-CN" altLang="en-US" sz="1200">
                <a:solidFill>
                  <a:srgbClr val="7C1D20"/>
                </a:solidFill>
                <a:latin typeface="+mj-ea"/>
              </a:rPr>
              <a:t>、</a:t>
            </a:r>
            <a:r>
              <a:rPr lang="en-US" altLang="zh-CN" sz="1200">
                <a:solidFill>
                  <a:srgbClr val="7C1D20"/>
                </a:solidFill>
                <a:latin typeface="+mj-ea"/>
              </a:rPr>
              <a:t>Spark</a:t>
            </a:r>
            <a:r>
              <a:rPr lang="zh-CN" altLang="en-US" sz="1200">
                <a:solidFill>
                  <a:srgbClr val="7C1D20"/>
                </a:solidFill>
                <a:latin typeface="+mj-ea"/>
              </a:rPr>
              <a:t>、</a:t>
            </a:r>
            <a:r>
              <a:rPr lang="en-US" altLang="zh-CN" sz="1200">
                <a:solidFill>
                  <a:srgbClr val="7C1D20"/>
                </a:solidFill>
                <a:latin typeface="+mj-ea"/>
              </a:rPr>
              <a:t>HBase</a:t>
            </a:r>
            <a:r>
              <a:rPr lang="zh-CN" altLang="en-US" sz="1200">
                <a:solidFill>
                  <a:srgbClr val="7C1D20"/>
                </a:solidFill>
                <a:latin typeface="+mj-ea"/>
              </a:rPr>
              <a:t>四个方面介绍本次项目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ïşļïde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23000">
                <a:schemeClr val="accent4"/>
              </a:gs>
              <a:gs pos="69000">
                <a:schemeClr val="accent3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1846" y="2656683"/>
            <a:ext cx="7148308" cy="1113016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05491" y="3836368"/>
            <a:ext cx="7181018" cy="392115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0" indent="0" algn="l">
              <a:buNone/>
              <a:defRPr sz="1200" u="sng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61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0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r">
              <a:spcBef>
                <a:spcPct val="0"/>
              </a:spcBef>
            </a:pPr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61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>
              <a:buNone/>
              <a:defRPr lang="zh-CN" altLang="en-US" sz="10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www.islide.cc</a:t>
            </a:r>
            <a:endParaRPr lang="en-US" altLang="zh-CN" dirty="0"/>
          </a:p>
        </p:txBody>
      </p:sp>
      <p:sp>
        <p:nvSpPr>
          <p:cNvPr id="20" name="ïş1iḋé"/>
          <p:cNvSpPr/>
          <p:nvPr userDrawn="1"/>
        </p:nvSpPr>
        <p:spPr>
          <a:xfrm>
            <a:off x="0" y="1"/>
            <a:ext cx="2191336" cy="1580531"/>
          </a:xfrm>
          <a:custGeom>
            <a:avLst/>
            <a:gdLst>
              <a:gd name="connsiteX0" fmla="*/ 0 w 2191336"/>
              <a:gd name="connsiteY0" fmla="*/ 0 h 1580531"/>
              <a:gd name="connsiteX1" fmla="*/ 2130675 w 2191336"/>
              <a:gd name="connsiteY1" fmla="*/ 0 h 1580531"/>
              <a:gd name="connsiteX2" fmla="*/ 2147591 w 2191336"/>
              <a:gd name="connsiteY2" fmla="*/ 28864 h 1580531"/>
              <a:gd name="connsiteX3" fmla="*/ 1852185 w 2191336"/>
              <a:gd name="connsiteY3" fmla="*/ 765199 h 1580531"/>
              <a:gd name="connsiteX4" fmla="*/ 111568 w 2191336"/>
              <a:gd name="connsiteY4" fmla="*/ 1531419 h 1580531"/>
              <a:gd name="connsiteX5" fmla="*/ 0 w 2191336"/>
              <a:gd name="connsiteY5" fmla="*/ 1580531 h 158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1336" h="1580531">
                <a:moveTo>
                  <a:pt x="0" y="0"/>
                </a:moveTo>
                <a:lnTo>
                  <a:pt x="2130675" y="0"/>
                </a:lnTo>
                <a:lnTo>
                  <a:pt x="2147591" y="28864"/>
                </a:lnTo>
                <a:cubicBezTo>
                  <a:pt x="2260135" y="297291"/>
                  <a:pt x="2153368" y="632619"/>
                  <a:pt x="1852185" y="765199"/>
                </a:cubicBezTo>
                <a:cubicBezTo>
                  <a:pt x="1852185" y="765199"/>
                  <a:pt x="1852185" y="765199"/>
                  <a:pt x="111568" y="1531419"/>
                </a:cubicBezTo>
                <a:lnTo>
                  <a:pt x="0" y="1580531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solidFill>
              <a:schemeClr val="bg2">
                <a:lumMod val="90000"/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ïṡlïḓé"/>
          <p:cNvSpPr/>
          <p:nvPr userDrawn="1"/>
        </p:nvSpPr>
        <p:spPr>
          <a:xfrm>
            <a:off x="0" y="3375944"/>
            <a:ext cx="3204450" cy="3482057"/>
          </a:xfrm>
          <a:custGeom>
            <a:avLst/>
            <a:gdLst>
              <a:gd name="connsiteX0" fmla="*/ 0 w 3204450"/>
              <a:gd name="connsiteY0" fmla="*/ 0 h 3482057"/>
              <a:gd name="connsiteX1" fmla="*/ 45983 w 3204450"/>
              <a:gd name="connsiteY1" fmla="*/ 11609 h 3482057"/>
              <a:gd name="connsiteX2" fmla="*/ 334914 w 3204450"/>
              <a:gd name="connsiteY2" fmla="*/ 204539 h 3482057"/>
              <a:gd name="connsiteX3" fmla="*/ 3098684 w 3204450"/>
              <a:gd name="connsiteY3" fmla="*/ 3361253 h 3482057"/>
              <a:gd name="connsiteX4" fmla="*/ 3204450 w 3204450"/>
              <a:gd name="connsiteY4" fmla="*/ 3482057 h 3482057"/>
              <a:gd name="connsiteX5" fmla="*/ 0 w 3204450"/>
              <a:gd name="connsiteY5" fmla="*/ 3482057 h 348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4450" h="3482057">
                <a:moveTo>
                  <a:pt x="0" y="0"/>
                </a:moveTo>
                <a:lnTo>
                  <a:pt x="45983" y="11609"/>
                </a:lnTo>
                <a:cubicBezTo>
                  <a:pt x="152616" y="46096"/>
                  <a:pt x="252790" y="109642"/>
                  <a:pt x="334914" y="204539"/>
                </a:cubicBezTo>
                <a:cubicBezTo>
                  <a:pt x="334914" y="204539"/>
                  <a:pt x="334914" y="204539"/>
                  <a:pt x="3098684" y="3361253"/>
                </a:cubicBezTo>
                <a:lnTo>
                  <a:pt x="3204450" y="3482057"/>
                </a:lnTo>
                <a:lnTo>
                  <a:pt x="0" y="3482057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íS1ídé"/>
          <p:cNvSpPr/>
          <p:nvPr userDrawn="1"/>
        </p:nvSpPr>
        <p:spPr>
          <a:xfrm>
            <a:off x="1" y="1863871"/>
            <a:ext cx="1366989" cy="4291852"/>
          </a:xfrm>
          <a:custGeom>
            <a:avLst/>
            <a:gdLst>
              <a:gd name="connsiteX0" fmla="*/ 899007 w 1366989"/>
              <a:gd name="connsiteY0" fmla="*/ 633 h 4291852"/>
              <a:gd name="connsiteX1" fmla="*/ 1343821 w 1366989"/>
              <a:gd name="connsiteY1" fmla="*/ 639191 h 4291852"/>
              <a:gd name="connsiteX2" fmla="*/ 316803 w 1366989"/>
              <a:gd name="connsiteY2" fmla="*/ 3970163 h 4291852"/>
              <a:gd name="connsiteX3" fmla="*/ 14549 w 1366989"/>
              <a:gd name="connsiteY3" fmla="*/ 4287566 h 4291852"/>
              <a:gd name="connsiteX4" fmla="*/ 0 w 1366989"/>
              <a:gd name="connsiteY4" fmla="*/ 4291852 h 4291852"/>
              <a:gd name="connsiteX5" fmla="*/ 0 w 1366989"/>
              <a:gd name="connsiteY5" fmla="*/ 186094 h 4291852"/>
              <a:gd name="connsiteX6" fmla="*/ 164343 w 1366989"/>
              <a:gd name="connsiteY6" fmla="*/ 148686 h 4291852"/>
              <a:gd name="connsiteX7" fmla="*/ 762612 w 1366989"/>
              <a:gd name="connsiteY7" fmla="*/ 12505 h 4291852"/>
              <a:gd name="connsiteX8" fmla="*/ 899007 w 1366989"/>
              <a:gd name="connsiteY8" fmla="*/ 633 h 429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6989" h="4291852">
                <a:moveTo>
                  <a:pt x="899007" y="633"/>
                </a:moveTo>
                <a:cubicBezTo>
                  <a:pt x="1208404" y="16359"/>
                  <a:pt x="1443395" y="322717"/>
                  <a:pt x="1343821" y="639191"/>
                </a:cubicBezTo>
                <a:cubicBezTo>
                  <a:pt x="1343821" y="639191"/>
                  <a:pt x="1343821" y="639191"/>
                  <a:pt x="316803" y="3970163"/>
                </a:cubicBezTo>
                <a:cubicBezTo>
                  <a:pt x="267015" y="4128400"/>
                  <a:pt x="151065" y="4237937"/>
                  <a:pt x="14549" y="4287566"/>
                </a:cubicBezTo>
                <a:lnTo>
                  <a:pt x="0" y="4291852"/>
                </a:lnTo>
                <a:lnTo>
                  <a:pt x="0" y="186094"/>
                </a:lnTo>
                <a:lnTo>
                  <a:pt x="164343" y="148686"/>
                </a:lnTo>
                <a:cubicBezTo>
                  <a:pt x="351042" y="106189"/>
                  <a:pt x="550189" y="60858"/>
                  <a:pt x="762612" y="12505"/>
                </a:cubicBezTo>
                <a:cubicBezTo>
                  <a:pt x="809090" y="2071"/>
                  <a:pt x="854808" y="-1613"/>
                  <a:pt x="899007" y="6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66800" dist="431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iṡļîḓe"/>
          <p:cNvSpPr/>
          <p:nvPr userDrawn="1"/>
        </p:nvSpPr>
        <p:spPr bwMode="auto">
          <a:xfrm rot="17341789">
            <a:off x="505247" y="3353187"/>
            <a:ext cx="884256" cy="76590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66800" dist="431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24" name="ïṣ1ídé"/>
          <p:cNvSpPr/>
          <p:nvPr userDrawn="1"/>
        </p:nvSpPr>
        <p:spPr>
          <a:xfrm>
            <a:off x="7260238" y="1"/>
            <a:ext cx="4602088" cy="1762855"/>
          </a:xfrm>
          <a:custGeom>
            <a:avLst/>
            <a:gdLst>
              <a:gd name="connsiteX0" fmla="*/ 127990 w 4602088"/>
              <a:gd name="connsiteY0" fmla="*/ 0 h 1762855"/>
              <a:gd name="connsiteX1" fmla="*/ 4602088 w 4602088"/>
              <a:gd name="connsiteY1" fmla="*/ 0 h 1762855"/>
              <a:gd name="connsiteX2" fmla="*/ 4578491 w 4602088"/>
              <a:gd name="connsiteY2" fmla="*/ 25244 h 1762855"/>
              <a:gd name="connsiteX3" fmla="*/ 4444216 w 4602088"/>
              <a:gd name="connsiteY3" fmla="*/ 107181 h 1762855"/>
              <a:gd name="connsiteX4" fmla="*/ 793877 w 4602088"/>
              <a:gd name="connsiteY4" fmla="*/ 1714060 h 1762855"/>
              <a:gd name="connsiteX5" fmla="*/ 3180 w 4602088"/>
              <a:gd name="connsiteY5" fmla="*/ 1137557 h 1762855"/>
              <a:gd name="connsiteX6" fmla="*/ 126176 w 4602088"/>
              <a:gd name="connsiteY6" fmla="*/ 16535 h 176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2088" h="1762855">
                <a:moveTo>
                  <a:pt x="127990" y="0"/>
                </a:moveTo>
                <a:lnTo>
                  <a:pt x="4602088" y="0"/>
                </a:lnTo>
                <a:lnTo>
                  <a:pt x="4578491" y="25244"/>
                </a:lnTo>
                <a:cubicBezTo>
                  <a:pt x="4539210" y="57356"/>
                  <a:pt x="4494413" y="85085"/>
                  <a:pt x="4444216" y="107181"/>
                </a:cubicBezTo>
                <a:cubicBezTo>
                  <a:pt x="4444216" y="107181"/>
                  <a:pt x="4444216" y="107181"/>
                  <a:pt x="793877" y="1714060"/>
                </a:cubicBezTo>
                <a:cubicBezTo>
                  <a:pt x="396315" y="1889066"/>
                  <a:pt x="-41676" y="1569286"/>
                  <a:pt x="3180" y="1137557"/>
                </a:cubicBezTo>
                <a:cubicBezTo>
                  <a:pt x="3180" y="1137557"/>
                  <a:pt x="3180" y="1137557"/>
                  <a:pt x="126176" y="165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solidFill>
              <a:schemeClr val="bg2">
                <a:lumMod val="90000"/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iŝļíḍè"/>
          <p:cNvSpPr/>
          <p:nvPr userDrawn="1"/>
        </p:nvSpPr>
        <p:spPr>
          <a:xfrm>
            <a:off x="9597838" y="3101456"/>
            <a:ext cx="2594163" cy="2540781"/>
          </a:xfrm>
          <a:custGeom>
            <a:avLst/>
            <a:gdLst>
              <a:gd name="connsiteX0" fmla="*/ 1096849 w 2594163"/>
              <a:gd name="connsiteY0" fmla="*/ 1533 h 2540781"/>
              <a:gd name="connsiteX1" fmla="*/ 1297103 w 2594163"/>
              <a:gd name="connsiteY1" fmla="*/ 112338 h 2540781"/>
              <a:gd name="connsiteX2" fmla="*/ 2482547 w 2594163"/>
              <a:gd name="connsiteY2" fmla="*/ 1602255 h 2540781"/>
              <a:gd name="connsiteX3" fmla="*/ 2594163 w 2594163"/>
              <a:gd name="connsiteY3" fmla="*/ 1742539 h 2540781"/>
              <a:gd name="connsiteX4" fmla="*/ 2594163 w 2594163"/>
              <a:gd name="connsiteY4" fmla="*/ 2125138 h 2540781"/>
              <a:gd name="connsiteX5" fmla="*/ 2556967 w 2594163"/>
              <a:gd name="connsiteY5" fmla="*/ 2164725 h 2540781"/>
              <a:gd name="connsiteX6" fmla="*/ 2411465 w 2594163"/>
              <a:gd name="connsiteY6" fmla="*/ 2228461 h 2540781"/>
              <a:gd name="connsiteX7" fmla="*/ 341159 w 2594163"/>
              <a:gd name="connsiteY7" fmla="*/ 2537387 h 2540781"/>
              <a:gd name="connsiteX8" fmla="*/ 20527 w 2594163"/>
              <a:gd name="connsiteY8" fmla="*/ 2136195 h 2540781"/>
              <a:gd name="connsiteX9" fmla="*/ 789206 w 2594163"/>
              <a:gd name="connsiteY9" fmla="*/ 188126 h 2540781"/>
              <a:gd name="connsiteX10" fmla="*/ 1096849 w 2594163"/>
              <a:gd name="connsiteY10" fmla="*/ 1533 h 254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4163" h="2540781">
                <a:moveTo>
                  <a:pt x="1096849" y="1533"/>
                </a:moveTo>
                <a:cubicBezTo>
                  <a:pt x="1171584" y="9139"/>
                  <a:pt x="1244300" y="45184"/>
                  <a:pt x="1297103" y="112338"/>
                </a:cubicBezTo>
                <a:cubicBezTo>
                  <a:pt x="1297103" y="112338"/>
                  <a:pt x="1297103" y="112338"/>
                  <a:pt x="2482547" y="1602255"/>
                </a:cubicBezTo>
                <a:lnTo>
                  <a:pt x="2594163" y="1742539"/>
                </a:lnTo>
                <a:lnTo>
                  <a:pt x="2594163" y="2125138"/>
                </a:lnTo>
                <a:lnTo>
                  <a:pt x="2556967" y="2164725"/>
                </a:lnTo>
                <a:cubicBezTo>
                  <a:pt x="2517521" y="2197076"/>
                  <a:pt x="2468404" y="2219964"/>
                  <a:pt x="2411465" y="2228461"/>
                </a:cubicBezTo>
                <a:cubicBezTo>
                  <a:pt x="2411465" y="2228461"/>
                  <a:pt x="2411465" y="2228461"/>
                  <a:pt x="341159" y="2537387"/>
                </a:cubicBezTo>
                <a:cubicBezTo>
                  <a:pt x="115680" y="2571033"/>
                  <a:pt x="-61868" y="2348579"/>
                  <a:pt x="20527" y="2136195"/>
                </a:cubicBezTo>
                <a:cubicBezTo>
                  <a:pt x="20527" y="2136195"/>
                  <a:pt x="20527" y="2136195"/>
                  <a:pt x="789206" y="188126"/>
                </a:cubicBezTo>
                <a:cubicBezTo>
                  <a:pt x="842126" y="55174"/>
                  <a:pt x="972291" y="-11145"/>
                  <a:pt x="1096849" y="15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66800" dist="4318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íṡ1ïḓé"/>
          <p:cNvSpPr/>
          <p:nvPr userDrawn="1"/>
        </p:nvSpPr>
        <p:spPr>
          <a:xfrm>
            <a:off x="9736800" y="3628602"/>
            <a:ext cx="2455201" cy="3229398"/>
          </a:xfrm>
          <a:custGeom>
            <a:avLst/>
            <a:gdLst>
              <a:gd name="connsiteX0" fmla="*/ 2455201 w 2455201"/>
              <a:gd name="connsiteY0" fmla="*/ 0 h 3229398"/>
              <a:gd name="connsiteX1" fmla="*/ 2455201 w 2455201"/>
              <a:gd name="connsiteY1" fmla="*/ 3229398 h 3229398"/>
              <a:gd name="connsiteX2" fmla="*/ 1689979 w 2455201"/>
              <a:gd name="connsiteY2" fmla="*/ 3229398 h 3229398"/>
              <a:gd name="connsiteX3" fmla="*/ 1422643 w 2455201"/>
              <a:gd name="connsiteY3" fmla="*/ 3097535 h 3229398"/>
              <a:gd name="connsiteX4" fmla="*/ 364836 w 2455201"/>
              <a:gd name="connsiteY4" fmla="*/ 2575771 h 3229398"/>
              <a:gd name="connsiteX5" fmla="*/ 288058 w 2455201"/>
              <a:gd name="connsiteY5" fmla="*/ 1446658 h 3229398"/>
              <a:gd name="connsiteX6" fmla="*/ 2346818 w 2455201"/>
              <a:gd name="connsiteY6" fmla="*/ 72350 h 3229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5201" h="3229398">
                <a:moveTo>
                  <a:pt x="2455201" y="0"/>
                </a:moveTo>
                <a:lnTo>
                  <a:pt x="2455201" y="3229398"/>
                </a:lnTo>
                <a:lnTo>
                  <a:pt x="1689979" y="3229398"/>
                </a:lnTo>
                <a:lnTo>
                  <a:pt x="1422643" y="3097535"/>
                </a:lnTo>
                <a:cubicBezTo>
                  <a:pt x="1104127" y="2940426"/>
                  <a:pt x="752661" y="2767066"/>
                  <a:pt x="364836" y="2575771"/>
                </a:cubicBezTo>
                <a:cubicBezTo>
                  <a:pt x="-85706" y="2353540"/>
                  <a:pt x="-127848" y="1727765"/>
                  <a:pt x="288058" y="1446658"/>
                </a:cubicBezTo>
                <a:cubicBezTo>
                  <a:pt x="288058" y="1446658"/>
                  <a:pt x="288058" y="1446658"/>
                  <a:pt x="2346818" y="7235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4"/>
              </a:gs>
              <a:gs pos="12000">
                <a:schemeClr val="accent3"/>
              </a:gs>
            </a:gsLst>
            <a:lin ang="2700000" scaled="0"/>
            <a:tileRect/>
          </a:gradFill>
          <a:ln>
            <a:noFill/>
          </a:ln>
          <a:effectLst>
            <a:outerShdw blurRad="1066800" dist="431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ṩlíḍe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23000">
                <a:schemeClr val="accent4"/>
              </a:gs>
              <a:gs pos="69000">
                <a:schemeClr val="accent3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7103" y="2532606"/>
            <a:ext cx="5677105" cy="1133475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217103" y="3693064"/>
            <a:ext cx="5677105" cy="9657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1" name="íṥ1ïḍé"/>
          <p:cNvSpPr/>
          <p:nvPr userDrawn="1"/>
        </p:nvSpPr>
        <p:spPr>
          <a:xfrm>
            <a:off x="0" y="1814138"/>
            <a:ext cx="4220354" cy="5043863"/>
          </a:xfrm>
          <a:custGeom>
            <a:avLst/>
            <a:gdLst>
              <a:gd name="connsiteX0" fmla="*/ 0 w 4220354"/>
              <a:gd name="connsiteY0" fmla="*/ 0 h 5043863"/>
              <a:gd name="connsiteX1" fmla="*/ 68702 w 4220354"/>
              <a:gd name="connsiteY1" fmla="*/ 38277 h 5043863"/>
              <a:gd name="connsiteX2" fmla="*/ 3925325 w 4220354"/>
              <a:gd name="connsiteY2" fmla="*/ 2572775 h 5043863"/>
              <a:gd name="connsiteX3" fmla="*/ 3860348 w 4220354"/>
              <a:gd name="connsiteY3" fmla="*/ 3702507 h 5043863"/>
              <a:gd name="connsiteX4" fmla="*/ 1384491 w 4220354"/>
              <a:gd name="connsiteY4" fmla="*/ 4949284 h 5043863"/>
              <a:gd name="connsiteX5" fmla="*/ 1196675 w 4220354"/>
              <a:gd name="connsiteY5" fmla="*/ 5043863 h 5043863"/>
              <a:gd name="connsiteX6" fmla="*/ 0 w 4220354"/>
              <a:gd name="connsiteY6" fmla="*/ 5043863 h 504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0354" h="5043863">
                <a:moveTo>
                  <a:pt x="0" y="0"/>
                </a:moveTo>
                <a:lnTo>
                  <a:pt x="68702" y="38277"/>
                </a:lnTo>
                <a:cubicBezTo>
                  <a:pt x="68702" y="38277"/>
                  <a:pt x="68702" y="38277"/>
                  <a:pt x="3925325" y="2572775"/>
                </a:cubicBezTo>
                <a:cubicBezTo>
                  <a:pt x="4346126" y="2851118"/>
                  <a:pt x="4309995" y="3479310"/>
                  <a:pt x="3860348" y="3702507"/>
                </a:cubicBezTo>
                <a:cubicBezTo>
                  <a:pt x="3860348" y="3702507"/>
                  <a:pt x="3860348" y="3702507"/>
                  <a:pt x="1384491" y="4949284"/>
                </a:cubicBezTo>
                <a:lnTo>
                  <a:pt x="1196675" y="5043863"/>
                </a:lnTo>
                <a:lnTo>
                  <a:pt x="0" y="5043863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îṣļíḍè"/>
          <p:cNvSpPr/>
          <p:nvPr userDrawn="1"/>
        </p:nvSpPr>
        <p:spPr>
          <a:xfrm>
            <a:off x="0" y="1060002"/>
            <a:ext cx="3599914" cy="5797999"/>
          </a:xfrm>
          <a:custGeom>
            <a:avLst/>
            <a:gdLst>
              <a:gd name="connsiteX0" fmla="*/ 2612448 w 3599914"/>
              <a:gd name="connsiteY0" fmla="*/ 713 h 5797999"/>
              <a:gd name="connsiteX1" fmla="*/ 3295585 w 3599914"/>
              <a:gd name="connsiteY1" fmla="*/ 611188 h 5797999"/>
              <a:gd name="connsiteX2" fmla="*/ 3598662 w 3599914"/>
              <a:gd name="connsiteY2" fmla="*/ 5216117 h 5797999"/>
              <a:gd name="connsiteX3" fmla="*/ 3374747 w 3599914"/>
              <a:gd name="connsiteY3" fmla="*/ 5751453 h 5797999"/>
              <a:gd name="connsiteX4" fmla="*/ 3313684 w 3599914"/>
              <a:gd name="connsiteY4" fmla="*/ 5797999 h 5797999"/>
              <a:gd name="connsiteX5" fmla="*/ 2566003 w 3599914"/>
              <a:gd name="connsiteY5" fmla="*/ 5797999 h 5797999"/>
              <a:gd name="connsiteX6" fmla="*/ 2529787 w 3599914"/>
              <a:gd name="connsiteY6" fmla="*/ 5780135 h 5797999"/>
              <a:gd name="connsiteX7" fmla="*/ 171151 w 3599914"/>
              <a:gd name="connsiteY7" fmla="*/ 4616737 h 5797999"/>
              <a:gd name="connsiteX8" fmla="*/ 0 w 3599914"/>
              <a:gd name="connsiteY8" fmla="*/ 4532317 h 5797999"/>
              <a:gd name="connsiteX9" fmla="*/ 0 w 3599914"/>
              <a:gd name="connsiteY9" fmla="*/ 1633089 h 5797999"/>
              <a:gd name="connsiteX10" fmla="*/ 61727 w 3599914"/>
              <a:gd name="connsiteY10" fmla="*/ 1591884 h 5797999"/>
              <a:gd name="connsiteX11" fmla="*/ 2280727 w 3599914"/>
              <a:gd name="connsiteY11" fmla="*/ 110609 h 5797999"/>
              <a:gd name="connsiteX12" fmla="*/ 2612448 w 3599914"/>
              <a:gd name="connsiteY12" fmla="*/ 713 h 579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9914" h="5797999">
                <a:moveTo>
                  <a:pt x="2612448" y="713"/>
                </a:moveTo>
                <a:cubicBezTo>
                  <a:pt x="2949953" y="-15157"/>
                  <a:pt x="3273021" y="235369"/>
                  <a:pt x="3295585" y="611188"/>
                </a:cubicBezTo>
                <a:cubicBezTo>
                  <a:pt x="3295585" y="611188"/>
                  <a:pt x="3295585" y="611188"/>
                  <a:pt x="3598662" y="5216117"/>
                </a:cubicBezTo>
                <a:cubicBezTo>
                  <a:pt x="3611825" y="5435345"/>
                  <a:pt x="3520152" y="5625590"/>
                  <a:pt x="3374747" y="5751453"/>
                </a:cubicBezTo>
                <a:lnTo>
                  <a:pt x="3313684" y="5797999"/>
                </a:lnTo>
                <a:lnTo>
                  <a:pt x="2566003" y="5797999"/>
                </a:lnTo>
                <a:lnTo>
                  <a:pt x="2529787" y="5780135"/>
                </a:lnTo>
                <a:cubicBezTo>
                  <a:pt x="2315170" y="5674276"/>
                  <a:pt x="1735705" y="5388454"/>
                  <a:pt x="171151" y="4616737"/>
                </a:cubicBezTo>
                <a:lnTo>
                  <a:pt x="0" y="4532317"/>
                </a:lnTo>
                <a:lnTo>
                  <a:pt x="0" y="1633089"/>
                </a:lnTo>
                <a:lnTo>
                  <a:pt x="61727" y="1591884"/>
                </a:lnTo>
                <a:cubicBezTo>
                  <a:pt x="601484" y="1231574"/>
                  <a:pt x="1321160" y="751160"/>
                  <a:pt x="2280727" y="110609"/>
                </a:cubicBezTo>
                <a:cubicBezTo>
                  <a:pt x="2385842" y="40893"/>
                  <a:pt x="2499947" y="6004"/>
                  <a:pt x="2612448" y="713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4"/>
              </a:gs>
              <a:gs pos="12000">
                <a:schemeClr val="accent3"/>
              </a:gs>
            </a:gsLst>
            <a:lin ang="2700000" scaled="0"/>
            <a:tileRect/>
          </a:gradFill>
          <a:ln>
            <a:noFill/>
          </a:ln>
          <a:effectLst>
            <a:outerShdw blurRad="1066800" dist="431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íśļîďé"/>
          <p:cNvSpPr/>
          <p:nvPr userDrawn="1"/>
        </p:nvSpPr>
        <p:spPr bwMode="auto">
          <a:xfrm rot="21090784">
            <a:off x="1831930" y="1743716"/>
            <a:ext cx="2834724" cy="2455309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66800" dist="4318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804215" y="2538394"/>
            <a:ext cx="1210588" cy="1200329"/>
          </a:xfrm>
        </p:spPr>
        <p:txBody>
          <a:bodyPr wrap="none">
            <a:sp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7200" b="1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FontTx/>
              <a:buNone/>
              <a:defRPr/>
            </a:lvl2pPr>
            <a:lvl3pPr marL="914400" indent="0">
              <a:lnSpc>
                <a:spcPct val="100000"/>
              </a:lnSpc>
              <a:buFontTx/>
              <a:buNone/>
              <a:defRPr/>
            </a:lvl3pPr>
            <a:lvl4pPr marL="1371600" indent="0">
              <a:lnSpc>
                <a:spcPct val="100000"/>
              </a:lnSpc>
              <a:buFontTx/>
              <a:buNone/>
              <a:defRPr/>
            </a:lvl4pPr>
            <a:lvl5pPr marL="1828800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lang="en-GB" altLang="zh-CN" dirty="0"/>
              <a:t>01</a:t>
            </a:r>
            <a:endParaRPr lang="en-GB" dirty="0"/>
          </a:p>
        </p:txBody>
      </p:sp>
      <p:sp>
        <p:nvSpPr>
          <p:cNvPr id="14" name="î$lïḍé"/>
          <p:cNvSpPr/>
          <p:nvPr userDrawn="1"/>
        </p:nvSpPr>
        <p:spPr>
          <a:xfrm>
            <a:off x="9629212" y="1"/>
            <a:ext cx="2562788" cy="2817193"/>
          </a:xfrm>
          <a:custGeom>
            <a:avLst/>
            <a:gdLst>
              <a:gd name="connsiteX0" fmla="*/ 243669 w 2562788"/>
              <a:gd name="connsiteY0" fmla="*/ 0 h 2817193"/>
              <a:gd name="connsiteX1" fmla="*/ 2562788 w 2562788"/>
              <a:gd name="connsiteY1" fmla="*/ 0 h 2817193"/>
              <a:gd name="connsiteX2" fmla="*/ 2562788 w 2562788"/>
              <a:gd name="connsiteY2" fmla="*/ 1989723 h 2817193"/>
              <a:gd name="connsiteX3" fmla="*/ 2486258 w 2562788"/>
              <a:gd name="connsiteY3" fmla="*/ 2023412 h 2817193"/>
              <a:gd name="connsiteX4" fmla="*/ 793877 w 2562788"/>
              <a:gd name="connsiteY4" fmla="*/ 2768398 h 2817193"/>
              <a:gd name="connsiteX5" fmla="*/ 3180 w 2562788"/>
              <a:gd name="connsiteY5" fmla="*/ 2191895 h 2817193"/>
              <a:gd name="connsiteX6" fmla="*/ 236607 w 2562788"/>
              <a:gd name="connsiteY6" fmla="*/ 64363 h 2817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62788" h="2817193">
                <a:moveTo>
                  <a:pt x="243669" y="0"/>
                </a:moveTo>
                <a:lnTo>
                  <a:pt x="2562788" y="0"/>
                </a:lnTo>
                <a:lnTo>
                  <a:pt x="2562788" y="1989723"/>
                </a:lnTo>
                <a:lnTo>
                  <a:pt x="2486258" y="2023412"/>
                </a:lnTo>
                <a:cubicBezTo>
                  <a:pt x="2034422" y="2222310"/>
                  <a:pt x="1478315" y="2467108"/>
                  <a:pt x="793877" y="2768398"/>
                </a:cubicBezTo>
                <a:cubicBezTo>
                  <a:pt x="396315" y="2943404"/>
                  <a:pt x="-41676" y="2623624"/>
                  <a:pt x="3180" y="2191895"/>
                </a:cubicBezTo>
                <a:cubicBezTo>
                  <a:pt x="3180" y="2191895"/>
                  <a:pt x="3180" y="2191895"/>
                  <a:pt x="236607" y="64363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solidFill>
              <a:schemeClr val="bg2">
                <a:lumMod val="90000"/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5401732" y="6235706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660404" y="6235706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60400" y="1832374"/>
            <a:ext cx="10858500" cy="277278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buNone/>
              <a:defRPr lang="en-US" altLang="zh-CN" sz="7200" b="1" smtClean="0">
                <a:solidFill>
                  <a:srgbClr val="080808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5422392" y="5837829"/>
            <a:ext cx="6096508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>
                <a:solidFill>
                  <a:srgbClr val="080808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5837829"/>
            <a:ext cx="4679696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>
                <a:solidFill>
                  <a:srgbClr val="080808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www.islide.cc</a:t>
            </a:r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íṩľïḍe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23000">
                <a:schemeClr val="accent4"/>
              </a:gs>
              <a:gs pos="69000">
                <a:schemeClr val="accent3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3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3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5401732" y="6235706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660404" y="6235706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8971305" y="6235706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3" name="íṡ1îdê"/>
          <p:cNvSpPr/>
          <p:nvPr userDrawn="1"/>
        </p:nvSpPr>
        <p:spPr>
          <a:xfrm>
            <a:off x="1" y="1"/>
            <a:ext cx="1562245" cy="1546769"/>
          </a:xfrm>
          <a:custGeom>
            <a:avLst/>
            <a:gdLst>
              <a:gd name="connsiteX0" fmla="*/ 0 w 1562245"/>
              <a:gd name="connsiteY0" fmla="*/ 0 h 1546769"/>
              <a:gd name="connsiteX1" fmla="*/ 930566 w 1562245"/>
              <a:gd name="connsiteY1" fmla="*/ 0 h 1546769"/>
              <a:gd name="connsiteX2" fmla="*/ 1079548 w 1562245"/>
              <a:gd name="connsiteY2" fmla="*/ 109120 h 1546769"/>
              <a:gd name="connsiteX3" fmla="*/ 1422751 w 1562245"/>
              <a:gd name="connsiteY3" fmla="*/ 360496 h 1546769"/>
              <a:gd name="connsiteX4" fmla="*/ 1356833 w 1562245"/>
              <a:gd name="connsiteY4" fmla="*/ 949492 h 1546769"/>
              <a:gd name="connsiteX5" fmla="*/ 170965 w 1562245"/>
              <a:gd name="connsiteY5" fmla="*/ 1471510 h 1546769"/>
              <a:gd name="connsiteX6" fmla="*/ 0 w 1562245"/>
              <a:gd name="connsiteY6" fmla="*/ 1546769 h 1546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62245" h="1546769">
                <a:moveTo>
                  <a:pt x="0" y="0"/>
                </a:moveTo>
                <a:lnTo>
                  <a:pt x="930566" y="0"/>
                </a:lnTo>
                <a:lnTo>
                  <a:pt x="1079548" y="109120"/>
                </a:lnTo>
                <a:cubicBezTo>
                  <a:pt x="1186651" y="187566"/>
                  <a:pt x="1300893" y="271242"/>
                  <a:pt x="1422751" y="360496"/>
                </a:cubicBezTo>
                <a:cubicBezTo>
                  <a:pt x="1633941" y="517054"/>
                  <a:pt x="1600054" y="842425"/>
                  <a:pt x="1356833" y="949492"/>
                </a:cubicBezTo>
                <a:cubicBezTo>
                  <a:pt x="1356833" y="949492"/>
                  <a:pt x="1356833" y="949492"/>
                  <a:pt x="170965" y="1471510"/>
                </a:cubicBezTo>
                <a:lnTo>
                  <a:pt x="0" y="1546769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solidFill>
              <a:schemeClr val="bg2">
                <a:lumMod val="90000"/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iŝľíḋê"/>
          <p:cNvSpPr/>
          <p:nvPr userDrawn="1"/>
        </p:nvSpPr>
        <p:spPr>
          <a:xfrm>
            <a:off x="11097214" y="5634420"/>
            <a:ext cx="1094787" cy="1223581"/>
          </a:xfrm>
          <a:custGeom>
            <a:avLst/>
            <a:gdLst>
              <a:gd name="connsiteX0" fmla="*/ 1094787 w 1094787"/>
              <a:gd name="connsiteY0" fmla="*/ 0 h 1223581"/>
              <a:gd name="connsiteX1" fmla="*/ 1094787 w 1094787"/>
              <a:gd name="connsiteY1" fmla="*/ 1223581 h 1223581"/>
              <a:gd name="connsiteX2" fmla="*/ 409177 w 1094787"/>
              <a:gd name="connsiteY2" fmla="*/ 1223581 h 1223581"/>
              <a:gd name="connsiteX3" fmla="*/ 140243 w 1094787"/>
              <a:gd name="connsiteY3" fmla="*/ 1090929 h 1223581"/>
              <a:gd name="connsiteX4" fmla="*/ 110730 w 1094787"/>
              <a:gd name="connsiteY4" fmla="*/ 656899 h 1223581"/>
              <a:gd name="connsiteX5" fmla="*/ 902115 w 1094787"/>
              <a:gd name="connsiteY5" fmla="*/ 128616 h 122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4787" h="1223581">
                <a:moveTo>
                  <a:pt x="1094787" y="0"/>
                </a:moveTo>
                <a:lnTo>
                  <a:pt x="1094787" y="1223581"/>
                </a:lnTo>
                <a:lnTo>
                  <a:pt x="409177" y="1223581"/>
                </a:lnTo>
                <a:lnTo>
                  <a:pt x="140243" y="1090929"/>
                </a:lnTo>
                <a:cubicBezTo>
                  <a:pt x="-32945" y="1005504"/>
                  <a:pt x="-49144" y="764956"/>
                  <a:pt x="110730" y="656899"/>
                </a:cubicBezTo>
                <a:cubicBezTo>
                  <a:pt x="110730" y="656899"/>
                  <a:pt x="110730" y="656899"/>
                  <a:pt x="902115" y="128616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4"/>
              </a:gs>
              <a:gs pos="12000">
                <a:schemeClr val="accent3"/>
              </a:gs>
            </a:gsLst>
            <a:lin ang="2700000" scaled="0"/>
            <a:tileRect/>
          </a:gradFill>
          <a:ln>
            <a:noFill/>
          </a:ln>
          <a:effectLst>
            <a:outerShdw blurRad="1066800" dist="431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76" y="143370"/>
            <a:ext cx="1179921" cy="3709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iṧḷîď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367030" y="2197735"/>
            <a:ext cx="11476355" cy="14706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3555">
                <a:solidFill>
                  <a:srgbClr val="7C1D20"/>
                </a:solidFill>
                <a:latin typeface="+mj-ea"/>
              </a:rPr>
              <a:t>新闻大数据多维分析与智能挖掘</a:t>
            </a:r>
            <a:br>
              <a:rPr lang="en-US" altLang="zh-CN" sz="3555">
                <a:solidFill>
                  <a:srgbClr val="7C1D20"/>
                </a:solidFill>
                <a:latin typeface="+mj-ea"/>
              </a:rPr>
            </a:br>
            <a:br>
              <a:rPr lang="en-US" altLang="zh-CN" sz="3555">
                <a:solidFill>
                  <a:srgbClr val="7C1D20"/>
                </a:solidFill>
                <a:latin typeface="+mj-ea"/>
              </a:rPr>
            </a:br>
            <a:r>
              <a:rPr lang="zh-CN" altLang="en-US" sz="2000">
                <a:solidFill>
                  <a:srgbClr val="7C1D20"/>
                </a:solidFill>
                <a:latin typeface="+mj-ea"/>
              </a:rPr>
              <a:t>基于</a:t>
            </a:r>
            <a:r>
              <a:rPr lang="en-US" altLang="zh-CN" sz="2000">
                <a:solidFill>
                  <a:srgbClr val="7C1D20"/>
                </a:solidFill>
                <a:latin typeface="+mj-ea"/>
              </a:rPr>
              <a:t>MapReduce</a:t>
            </a:r>
            <a:r>
              <a:rPr lang="zh-CN" altLang="en-US" sz="2000">
                <a:solidFill>
                  <a:srgbClr val="7C1D20"/>
                </a:solidFill>
                <a:latin typeface="+mj-ea"/>
              </a:rPr>
              <a:t>、</a:t>
            </a:r>
            <a:r>
              <a:rPr lang="en-US" altLang="zh-CN" sz="2000">
                <a:solidFill>
                  <a:srgbClr val="7C1D20"/>
                </a:solidFill>
                <a:latin typeface="+mj-ea"/>
              </a:rPr>
              <a:t>Hive</a:t>
            </a:r>
            <a:r>
              <a:rPr lang="zh-CN" altLang="en-US" sz="2000">
                <a:solidFill>
                  <a:srgbClr val="7C1D20"/>
                </a:solidFill>
                <a:latin typeface="+mj-ea"/>
              </a:rPr>
              <a:t>、</a:t>
            </a:r>
            <a:r>
              <a:rPr lang="en-US" altLang="zh-CN" sz="2000">
                <a:solidFill>
                  <a:srgbClr val="7C1D20"/>
                </a:solidFill>
                <a:latin typeface="+mj-ea"/>
              </a:rPr>
              <a:t>Spark</a:t>
            </a:r>
            <a:r>
              <a:rPr lang="zh-CN" altLang="en-US" sz="2000">
                <a:solidFill>
                  <a:srgbClr val="7C1D20"/>
                </a:solidFill>
                <a:latin typeface="+mj-ea"/>
              </a:rPr>
              <a:t>、</a:t>
            </a:r>
            <a:r>
              <a:rPr lang="en-US" altLang="zh-CN" sz="2000">
                <a:solidFill>
                  <a:srgbClr val="7C1D20"/>
                </a:solidFill>
                <a:latin typeface="+mj-ea"/>
              </a:rPr>
              <a:t>H</a:t>
            </a:r>
            <a:r>
              <a:rPr lang="en-US" altLang="zh-CN" sz="2000">
                <a:solidFill>
                  <a:srgbClr val="7C1D20"/>
                </a:solidFill>
                <a:latin typeface="+mj-ea"/>
              </a:rPr>
              <a:t>Base</a:t>
            </a:r>
            <a:r>
              <a:rPr lang="zh-CN" altLang="en-US" sz="2000">
                <a:solidFill>
                  <a:srgbClr val="7C1D20"/>
                </a:solidFill>
                <a:latin typeface="+mj-ea"/>
              </a:rPr>
              <a:t>的端到端数据处理流水线</a:t>
            </a:r>
            <a:endParaRPr lang="zh-CN" altLang="en-US" sz="20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8712" y="5193373"/>
            <a:ext cx="284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张东生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陈子明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3367" y="348711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项目概述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8324" y="1566738"/>
            <a:ext cx="9808284" cy="3532856"/>
            <a:chOff x="737695" y="1251778"/>
            <a:chExt cx="9808284" cy="3532856"/>
          </a:xfrm>
        </p:grpSpPr>
        <p:sp>
          <p:nvSpPr>
            <p:cNvPr id="3" name="文本框 2"/>
            <p:cNvSpPr txBox="1"/>
            <p:nvPr/>
          </p:nvSpPr>
          <p:spPr>
            <a:xfrm>
              <a:off x="737695" y="1251778"/>
              <a:ext cx="9808284" cy="34766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>
                  <a:solidFill>
                    <a:srgbClr val="7C2326"/>
                  </a:solidFill>
                </a:rPr>
                <a:t>项目简介：</a:t>
              </a:r>
              <a:endParaRPr lang="en-US" altLang="zh-CN" sz="2000" b="1">
                <a:solidFill>
                  <a:srgbClr val="7C2326"/>
                </a:solidFill>
              </a:endParaRPr>
            </a:p>
            <a:p>
              <a:endParaRPr lang="en-US" altLang="zh-CN" b="1">
                <a:solidFill>
                  <a:srgbClr val="7C2326"/>
                </a:solidFill>
              </a:endParaRPr>
            </a:p>
            <a:p>
              <a:pPr indent="457200">
                <a:lnSpc>
                  <a:spcPct val="150000"/>
                </a:lnSpc>
              </a:pPr>
              <a:r>
                <a:rPr lang="zh-CN" altLang="en-US"/>
                <a:t>本项目通过</a:t>
              </a:r>
              <a:r>
                <a:rPr lang="en-US" altLang="zh-CN">
                  <a:latin typeface="+mj-ea"/>
                </a:rPr>
                <a:t>MapReduce</a:t>
              </a:r>
              <a:r>
                <a:rPr lang="zh-CN" altLang="en-US">
                  <a:latin typeface="+mj-ea"/>
                </a:rPr>
                <a:t>、</a:t>
              </a:r>
              <a:r>
                <a:rPr lang="en-US" altLang="zh-CN">
                  <a:latin typeface="+mj-ea"/>
                </a:rPr>
                <a:t>Hive</a:t>
              </a:r>
              <a:r>
                <a:rPr lang="zh-CN" altLang="en-US">
                  <a:latin typeface="+mj-ea"/>
                </a:rPr>
                <a:t>、</a:t>
              </a:r>
              <a:r>
                <a:rPr lang="en-US" altLang="zh-CN">
                  <a:latin typeface="+mj-ea"/>
                </a:rPr>
                <a:t>Spark</a:t>
              </a:r>
              <a:r>
                <a:rPr lang="zh-CN" altLang="en-US">
                  <a:latin typeface="+mj-ea"/>
                </a:rPr>
                <a:t>、</a:t>
              </a:r>
              <a:r>
                <a:rPr lang="en-US" altLang="zh-CN">
                  <a:latin typeface="+mj-ea"/>
                </a:rPr>
                <a:t>HBase</a:t>
              </a:r>
              <a:r>
                <a:rPr lang="zh-CN" altLang="en-US"/>
                <a:t>，完成数据预处理与分析，数据仓库构建与分析，实现新闻作者影响力分数计算、热门新闻类别分析、取新闻标题 </a:t>
              </a:r>
              <a:r>
                <a:rPr lang="en-US" altLang="zh-CN"/>
                <a:t>TF-IDF </a:t>
              </a:r>
              <a:r>
                <a:rPr lang="zh-CN" altLang="en-US"/>
                <a:t>特征等高级分析功能，最终完成存储和在线查询。</a:t>
              </a:r>
              <a:endParaRPr lang="zh-CN" altLang="en-US"/>
            </a:p>
            <a:p>
              <a:pPr indent="0">
                <a:lnSpc>
                  <a:spcPct val="150000"/>
                </a:lnSpc>
              </a:pPr>
              <a:endParaRPr lang="en-US" altLang="zh-CN"/>
            </a:p>
            <a:p>
              <a:r>
                <a:rPr lang="zh-CN" altLang="en-US" sz="2000" b="1">
                  <a:solidFill>
                    <a:srgbClr val="7C2326"/>
                  </a:solidFill>
                </a:rPr>
                <a:t>实验流程：</a:t>
              </a:r>
              <a:endParaRPr lang="zh-CN" altLang="en-US" sz="2000" b="1">
                <a:solidFill>
                  <a:srgbClr val="7C2326"/>
                </a:solidFill>
              </a:endParaRPr>
            </a:p>
            <a:p>
              <a:endParaRPr lang="zh-CN" altLang="en-US"/>
            </a:p>
            <a:p>
              <a:endParaRPr lang="zh-CN" altLang="en-US"/>
            </a:p>
            <a:p>
              <a:endParaRPr lang="en-US" altLang="zh-CN"/>
            </a:p>
          </p:txBody>
        </p:sp>
        <p:sp>
          <p:nvSpPr>
            <p:cNvPr id="2" name="矩形: 圆角 1"/>
            <p:cNvSpPr/>
            <p:nvPr/>
          </p:nvSpPr>
          <p:spPr>
            <a:xfrm>
              <a:off x="1849846" y="4283891"/>
              <a:ext cx="1839685" cy="50074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+mj-ea"/>
                </a:rPr>
                <a:t>MapReduce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箭头: 右 4"/>
            <p:cNvSpPr/>
            <p:nvPr/>
          </p:nvSpPr>
          <p:spPr>
            <a:xfrm>
              <a:off x="3689531" y="4441733"/>
              <a:ext cx="544286" cy="18505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4233817" y="4283891"/>
              <a:ext cx="1295399" cy="500743"/>
            </a:xfrm>
            <a:prstGeom prst="roundRect">
              <a:avLst/>
            </a:prstGeom>
            <a:solidFill>
              <a:srgbClr val="D6B2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+mj-ea"/>
                </a:rPr>
                <a:t>Hive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箭头: 右 7"/>
            <p:cNvSpPr/>
            <p:nvPr/>
          </p:nvSpPr>
          <p:spPr>
            <a:xfrm>
              <a:off x="5536561" y="4441732"/>
              <a:ext cx="544286" cy="18505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6088192" y="4283891"/>
              <a:ext cx="1295399" cy="500743"/>
            </a:xfrm>
            <a:prstGeom prst="roundRect">
              <a:avLst/>
            </a:prstGeom>
            <a:solidFill>
              <a:srgbClr val="CEF6E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+mj-ea"/>
                </a:rPr>
                <a:t>Spark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箭头: 右 9"/>
            <p:cNvSpPr/>
            <p:nvPr/>
          </p:nvSpPr>
          <p:spPr>
            <a:xfrm>
              <a:off x="7398281" y="4441732"/>
              <a:ext cx="544286" cy="18505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7942567" y="4283891"/>
              <a:ext cx="1295399" cy="500743"/>
            </a:xfrm>
            <a:prstGeom prst="roundRect">
              <a:avLst/>
            </a:prstGeom>
            <a:solidFill>
              <a:srgbClr val="FDCF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+mj-ea"/>
                </a:rPr>
                <a:t>Hbase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3367" y="348711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项目概述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338580"/>
            <a:ext cx="10081895" cy="370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7C2326"/>
                </a:solidFill>
              </a:rPr>
              <a:t>数据集选择</a:t>
            </a:r>
            <a:r>
              <a:rPr lang="zh-CN" altLang="en-US" sz="2000" b="1" dirty="0">
                <a:solidFill>
                  <a:srgbClr val="7C2326"/>
                </a:solidFill>
              </a:rPr>
              <a:t>：</a:t>
            </a:r>
            <a:r>
              <a:rPr lang="en-US" altLang="zh-CN" sz="2000" b="1">
                <a:solidFill>
                  <a:srgbClr val="7C2326"/>
                </a:solidFill>
              </a:rPr>
              <a:t>News_Category_Dataset_v3.json</a:t>
            </a:r>
            <a:endParaRPr lang="en-US" altLang="zh-CN" sz="2000" b="1">
              <a:solidFill>
                <a:srgbClr val="7C2326"/>
              </a:solidFill>
            </a:endParaRPr>
          </a:p>
          <a:p>
            <a:endParaRPr lang="en-US" altLang="zh-CN" b="1">
              <a:solidFill>
                <a:srgbClr val="7C2326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该数据集包含从 </a:t>
            </a:r>
            <a:r>
              <a:rPr lang="en-US" altLang="zh-CN">
                <a:sym typeface="+mn-ea"/>
              </a:rPr>
              <a:t>HuffPost </a:t>
            </a:r>
            <a:r>
              <a:rPr lang="zh-CN" altLang="en-US">
                <a:sym typeface="+mn-ea"/>
              </a:rPr>
              <a:t>获得的 </a:t>
            </a:r>
            <a:r>
              <a:rPr lang="en-US" altLang="zh-CN">
                <a:sym typeface="+mn-ea"/>
              </a:rPr>
              <a:t>209527 </a:t>
            </a:r>
            <a:r>
              <a:rPr lang="zh-CN" altLang="en-US">
                <a:sym typeface="+mn-ea"/>
              </a:rPr>
              <a:t>条 </a:t>
            </a:r>
            <a:r>
              <a:rPr lang="en-US" altLang="zh-CN">
                <a:sym typeface="+mn-ea"/>
              </a:rPr>
              <a:t>2012 </a:t>
            </a:r>
            <a:r>
              <a:rPr lang="zh-CN" altLang="en-US">
                <a:sym typeface="+mn-ea"/>
              </a:rPr>
              <a:t>年至 </a:t>
            </a:r>
            <a:r>
              <a:rPr lang="en-US" altLang="zh-CN">
                <a:sym typeface="+mn-ea"/>
              </a:rPr>
              <a:t>2022 </a:t>
            </a:r>
            <a:r>
              <a:rPr lang="zh-CN" altLang="en-US">
                <a:sym typeface="+mn-ea"/>
              </a:rPr>
              <a:t>年的新闻头条。它可以帮助用户进行文本分类、主题建模等自然语言处理任务。</a:t>
            </a:r>
            <a:endParaRPr lang="zh-CN" altLang="en-US">
              <a:sym typeface="+mn-ea"/>
            </a:endParaRPr>
          </a:p>
          <a:p>
            <a:endParaRPr lang="en-US" altLang="zh-CN" dirty="0"/>
          </a:p>
          <a:p>
            <a:r>
              <a:rPr lang="zh-CN" altLang="en-US" sz="2000" b="1">
                <a:solidFill>
                  <a:srgbClr val="7C2326"/>
                </a:solidFill>
              </a:rPr>
              <a:t>数据集特点：</a:t>
            </a:r>
            <a:endParaRPr lang="en-US" altLang="zh-CN" sz="2000" b="1">
              <a:solidFill>
                <a:srgbClr val="7C2326"/>
              </a:solidFill>
            </a:endParaRPr>
          </a:p>
          <a:p>
            <a:endParaRPr lang="zh-CN" altLang="en-US" sz="2400" b="1">
              <a:solidFill>
                <a:srgbClr val="7C2326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格式：</a:t>
            </a:r>
            <a:r>
              <a:rPr lang="en-US" altLang="zh-CN"/>
              <a:t>JSON Lines</a:t>
            </a:r>
            <a:r>
              <a:rPr lang="zh-CN" altLang="en-US"/>
              <a:t>（每行一个 </a:t>
            </a:r>
            <a:r>
              <a:rPr lang="en-US" altLang="zh-CN"/>
              <a:t>JSON </a:t>
            </a:r>
            <a:r>
              <a:rPr lang="zh-CN" altLang="en-US"/>
              <a:t>对象）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字段：包含链接、标题、类别、短描述、作者、日期结构化信息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挑战：数据中存在格式不规范、字段缺失、</a:t>
            </a:r>
            <a:r>
              <a:rPr lang="en-US" altLang="zh-CN"/>
              <a:t>JSON </a:t>
            </a:r>
            <a:r>
              <a:rPr lang="zh-CN" altLang="en-US"/>
              <a:t>解析异常等问题，需要健壮的错误处理机制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5015" y="1114709"/>
            <a:ext cx="9808284" cy="504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实验概述</a:t>
            </a:r>
            <a:endParaRPr kumimoji="1" lang="zh-CN" altLang="en-US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本实验作为大数据处理技术项目的</a:t>
            </a:r>
            <a:r>
              <a:rPr lang="zh-CN" altLang="en-US" b="1"/>
              <a:t>基础数据预处理与分析阶段</a:t>
            </a:r>
            <a:r>
              <a:rPr lang="zh-CN" altLang="en-US"/>
              <a:t>，采用 </a:t>
            </a:r>
            <a:r>
              <a:rPr lang="en-US" altLang="zh-CN"/>
              <a:t>Hadoop MapReduce </a:t>
            </a:r>
            <a:r>
              <a:rPr lang="zh-CN" altLang="en-US"/>
              <a:t>框架对大规模新闻数据集进行分布式处理。</a:t>
            </a:r>
            <a:r>
              <a:rPr lang="en-US" altLang="zh-CN"/>
              <a:t>MapReduce </a:t>
            </a:r>
            <a:r>
              <a:rPr lang="zh-CN" altLang="en-US"/>
              <a:t>作为 </a:t>
            </a:r>
            <a:r>
              <a:rPr lang="en-US" altLang="zh-CN"/>
              <a:t>Hadoop </a:t>
            </a:r>
            <a:r>
              <a:rPr lang="zh-CN" altLang="en-US"/>
              <a:t>生态系统的核心计算引擎，通过</a:t>
            </a:r>
            <a:r>
              <a:rPr lang="en-US" altLang="zh-CN"/>
              <a:t>"</a:t>
            </a:r>
            <a:r>
              <a:rPr lang="zh-CN" altLang="en-US"/>
              <a:t>分而治之</a:t>
            </a:r>
            <a:r>
              <a:rPr lang="en-US" altLang="zh-CN"/>
              <a:t>"</a:t>
            </a:r>
            <a:r>
              <a:rPr lang="zh-CN" altLang="en-US"/>
              <a:t>的并行计算模型，能够高效处理海量非结构化 </a:t>
            </a:r>
            <a:r>
              <a:rPr lang="en-US" altLang="zh-CN"/>
              <a:t>JSON </a:t>
            </a:r>
            <a:r>
              <a:rPr lang="zh-CN" altLang="en-US"/>
              <a:t>数据。</a:t>
            </a:r>
            <a:endParaRPr lang="zh-CN" altLang="en-US"/>
          </a:p>
          <a:p>
            <a:endParaRPr lang="en-US" altLang="zh-CN"/>
          </a:p>
          <a:p>
            <a:r>
              <a:rPr lang="zh-CN" altLang="en-US" sz="2000" b="1">
                <a:solidFill>
                  <a:srgbClr val="7C2326"/>
                </a:solidFill>
              </a:rPr>
              <a:t>核心任务</a:t>
            </a:r>
            <a:endParaRPr lang="zh-CN" altLang="en-US" sz="2000" b="1">
              <a:solidFill>
                <a:srgbClr val="7C2326"/>
              </a:solidFill>
            </a:endParaRPr>
          </a:p>
          <a:p>
            <a:endParaRPr lang="en-US" altLang="zh-CN" sz="2400" b="1">
              <a:solidFill>
                <a:srgbClr val="7C2326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(1)</a:t>
            </a:r>
            <a:r>
              <a:rPr lang="zh-CN" altLang="en-US" b="1"/>
              <a:t>新闻类别统计分析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展示了 </a:t>
            </a:r>
            <a:r>
              <a:rPr lang="en-US" altLang="zh-CN"/>
              <a:t>MapReduce </a:t>
            </a:r>
            <a:r>
              <a:rPr lang="zh-CN" altLang="en-US"/>
              <a:t>在聚合统计场景下的强大能力。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 b="1"/>
              <a:t>(2)</a:t>
            </a:r>
            <a:r>
              <a:rPr lang="zh-CN" altLang="en-US" b="1"/>
              <a:t>数据清洗转换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为后续 </a:t>
            </a:r>
            <a:r>
              <a:rPr lang="en-US" altLang="zh-CN"/>
              <a:t>Hive</a:t>
            </a:r>
            <a:r>
              <a:rPr lang="zh-CN" altLang="en-US"/>
              <a:t>、</a:t>
            </a:r>
            <a:r>
              <a:rPr lang="en-US" altLang="zh-CN"/>
              <a:t>Spark</a:t>
            </a:r>
            <a:r>
              <a:rPr lang="zh-CN" altLang="en-US"/>
              <a:t>、</a:t>
            </a:r>
            <a:r>
              <a:rPr lang="en-US" altLang="zh-CN"/>
              <a:t>HBase </a:t>
            </a:r>
            <a:r>
              <a:rPr lang="zh-CN" altLang="en-US"/>
              <a:t>实验提供了标准化的结构化数据输入，体现了大数据流水线中数据预处理的关键作用。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8125" y="1575435"/>
            <a:ext cx="6495415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7C2326"/>
                </a:solidFill>
                <a:sym typeface="+mn-ea"/>
              </a:rPr>
              <a:t>1. </a:t>
            </a:r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新闻类别统计分析</a:t>
            </a:r>
            <a:endParaRPr lang="zh-CN" altLang="en-US" sz="2000" b="1" dirty="0">
              <a:solidFill>
                <a:srgbClr val="7C2326"/>
              </a:solidFill>
              <a:latin typeface="+mn-lt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1"/>
              <a:t>实验目标：</a:t>
            </a:r>
            <a:r>
              <a:rPr lang="zh-CN" altLang="en-US" b="1"/>
              <a:t>对新闻数据进行分类统计，输出每类新闻出现次数</a:t>
            </a:r>
            <a:endParaRPr lang="zh-CN" altLang="en-US" b="1"/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7C2326"/>
                </a:solidFill>
                <a:sym typeface="+mn-ea"/>
              </a:rPr>
              <a:t>2.</a:t>
            </a:r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新闻数据清洗</a:t>
            </a:r>
            <a:endParaRPr lang="zh-CN" altLang="en-US" sz="2000" b="1">
              <a:solidFill>
                <a:srgbClr val="7C2326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1">
                <a:sym typeface="+mn-ea"/>
              </a:rPr>
              <a:t>实验目标：将原始 JSON Lines 数据清洗为 Hive 可加载的结构化 TSV 文件</a:t>
            </a:r>
            <a:endParaRPr lang="zh-CN" altLang="en-US" sz="2400" b="1">
              <a:solidFill>
                <a:srgbClr val="7C2326"/>
              </a:solidFill>
            </a:endParaRPr>
          </a:p>
          <a:p>
            <a:endParaRPr lang="zh-CN" altLang="en-US"/>
          </a:p>
          <a:p>
            <a:endParaRPr lang="en-US" altLang="zh-CN" sz="2400" b="1">
              <a:solidFill>
                <a:srgbClr val="7C2326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160" y="1936750"/>
            <a:ext cx="4952365" cy="3610610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588555"/>
            <a:ext cx="1012926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23925"/>
            <a:ext cx="9808210" cy="5393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新闻类别统计分析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zh-CN" altLang="en-US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CategoryCountMapper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负责将输入的 </a:t>
            </a:r>
            <a:r>
              <a:rPr lang="en-US" altLang="zh-CN" sz="1600"/>
              <a:t>JSON </a:t>
            </a:r>
            <a:r>
              <a:rPr lang="zh-CN" altLang="en-US" sz="1600"/>
              <a:t>格式新闻数据转换为键值对形式，为后续的聚合统计做准备。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继承 </a:t>
            </a:r>
            <a:r>
              <a:rPr lang="en-US" altLang="zh-CN" sz="1600"/>
              <a:t>Mapper </a:t>
            </a:r>
            <a:r>
              <a:rPr lang="zh-CN" altLang="en-US" sz="1600"/>
              <a:t>泛型类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使用 </a:t>
            </a:r>
            <a:r>
              <a:rPr lang="en-US" altLang="zh-CN" sz="1600"/>
              <a:t>Jackson </a:t>
            </a:r>
            <a:r>
              <a:rPr lang="zh-CN" altLang="en-US" sz="1600"/>
              <a:t>库进行 </a:t>
            </a:r>
            <a:r>
              <a:rPr lang="en-US" altLang="zh-CN" sz="1600"/>
              <a:t>JSON </a:t>
            </a:r>
            <a:r>
              <a:rPr lang="zh-CN" altLang="en-US" sz="1600"/>
              <a:t>解析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容错机制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对象复用优化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输出键值对设计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每个 </a:t>
            </a:r>
            <a:r>
              <a:rPr lang="en-US" altLang="zh-CN" sz="1600"/>
              <a:t>Map Task </a:t>
            </a:r>
            <a:r>
              <a:rPr lang="zh-CN" altLang="en-US" sz="1600"/>
              <a:t>并行处理 </a:t>
            </a:r>
            <a:r>
              <a:rPr lang="en-US" altLang="zh-CN" sz="1600"/>
              <a:t>HDFS </a:t>
            </a:r>
            <a:r>
              <a:rPr lang="zh-CN" altLang="en-US" sz="1600"/>
              <a:t>上的数据分片，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对每条 </a:t>
            </a:r>
            <a:r>
              <a:rPr lang="en-US" altLang="zh-CN" sz="1600"/>
              <a:t>JSON </a:t>
            </a:r>
            <a:r>
              <a:rPr lang="zh-CN" altLang="en-US" sz="1600"/>
              <a:t>记录提取 </a:t>
            </a:r>
            <a:r>
              <a:rPr lang="en-US" altLang="zh-CN" sz="1600"/>
              <a:t>category </a:t>
            </a:r>
            <a:r>
              <a:rPr lang="zh-CN" altLang="en-US" sz="1600"/>
              <a:t>字段并输出 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(category, 1)</a:t>
            </a:r>
            <a:r>
              <a:rPr lang="zh-CN" altLang="en-US" sz="1600"/>
              <a:t>，实现了分布式并行解析。</a:t>
            </a:r>
            <a:endParaRPr lang="zh-CN" altLang="en-US" sz="1600"/>
          </a:p>
          <a:p>
            <a:endParaRPr lang="zh-CN" altLang="en-US"/>
          </a:p>
          <a:p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6522"/>
          <a:stretch>
            <a:fillRect/>
          </a:stretch>
        </p:blipFill>
        <p:spPr>
          <a:xfrm>
            <a:off x="5735320" y="2440305"/>
            <a:ext cx="6271260" cy="410908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588555"/>
            <a:ext cx="1012926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494" y="893544"/>
            <a:ext cx="9808284" cy="721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新闻类别统计分析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  <a:sym typeface="+mn-ea"/>
              </a:rPr>
              <a:t>核心代码</a:t>
            </a:r>
            <a:endParaRPr kumimoji="1" lang="zh-CN" altLang="en-US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CategoryCountReducer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负责对 </a:t>
            </a:r>
            <a:r>
              <a:rPr lang="en-US" altLang="zh-CN" sz="1600"/>
              <a:t>Map </a:t>
            </a:r>
            <a:r>
              <a:rPr lang="zh-CN" altLang="en-US" sz="1600"/>
              <a:t>阶段输出的键值对进行聚合计算，实现最终的类别统计。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继承 </a:t>
            </a:r>
            <a:r>
              <a:rPr lang="en-US" altLang="zh-CN" sz="1600"/>
              <a:t>Reducer </a:t>
            </a:r>
            <a:r>
              <a:rPr lang="zh-CN" altLang="en-US" sz="1600"/>
              <a:t>泛型类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Shuffle </a:t>
            </a:r>
            <a:r>
              <a:rPr lang="zh-CN" altLang="en-US" sz="1600"/>
              <a:t>机制的作用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迭代器模式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累加逻辑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输出结果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每个 </a:t>
            </a:r>
            <a:r>
              <a:rPr lang="en-US" altLang="zh-CN" sz="1600"/>
              <a:t>Reducer </a:t>
            </a:r>
            <a:r>
              <a:rPr lang="zh-CN" altLang="en-US" sz="1600"/>
              <a:t>处理一个或多个类别（取决于分区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策略），对每个类别累加其所有计数，输出最终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的统计结果。多个 </a:t>
            </a:r>
            <a:r>
              <a:rPr lang="en-US" altLang="zh-CN" sz="1600"/>
              <a:t>Reducer </a:t>
            </a:r>
            <a:r>
              <a:rPr lang="zh-CN" altLang="en-US" sz="1600"/>
              <a:t>并行工作，实现高效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的分布式聚合计算。</a:t>
            </a:r>
            <a:endParaRPr lang="zh-CN" altLang="en-US" sz="1600"/>
          </a:p>
          <a:p>
            <a:endParaRPr lang="zh-CN" altLang="en-US" sz="1600"/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6647"/>
          <a:stretch>
            <a:fillRect/>
          </a:stretch>
        </p:blipFill>
        <p:spPr>
          <a:xfrm>
            <a:off x="5523865" y="2565400"/>
            <a:ext cx="6430010" cy="384238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588555"/>
            <a:ext cx="1012926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893445"/>
            <a:ext cx="9808210" cy="5657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新闻类别统计分析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  <a:sym typeface="+mn-ea"/>
              </a:rPr>
              <a:t>核心代码</a:t>
            </a:r>
            <a:endParaRPr kumimoji="1" lang="zh-CN" altLang="en-US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CategoryCountDriver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负责配置作业参数、提交作业到 </a:t>
            </a:r>
            <a:r>
              <a:rPr lang="en-US" altLang="zh-CN" sz="1600"/>
              <a:t>Hadoop </a:t>
            </a:r>
            <a:r>
              <a:rPr lang="zh-CN" altLang="en-US" sz="1600"/>
              <a:t>集群并监控执行状态。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Configuration </a:t>
            </a:r>
            <a:r>
              <a:rPr lang="zh-CN" altLang="en-US" sz="1600"/>
              <a:t>对象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Job </a:t>
            </a:r>
            <a:r>
              <a:rPr lang="zh-CN" altLang="en-US" sz="1600"/>
              <a:t>对象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setJarByClass()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Mapper/Reducer </a:t>
            </a:r>
            <a:r>
              <a:rPr lang="zh-CN" altLang="en-US" sz="1600"/>
              <a:t>类绑定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输出类型声明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输入输出路径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作业提交与监控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sz="1600"/>
              <a:t>Driver </a:t>
            </a:r>
            <a:r>
              <a:rPr lang="zh-CN" altLang="en-US" sz="1600"/>
              <a:t>类在客户端运行，将作业配置和代码打包提交到 </a:t>
            </a:r>
            <a:r>
              <a:rPr lang="en-US" altLang="zh-CN" sz="1600"/>
              <a:t>Hadoop </a:t>
            </a:r>
            <a:r>
              <a:rPr lang="zh-CN" altLang="en-US" sz="1600"/>
              <a:t>集群；</a:t>
            </a:r>
            <a:r>
              <a:rPr lang="en-US" altLang="zh-CN" sz="1600"/>
              <a:t>ResourceManager </a:t>
            </a:r>
            <a:r>
              <a:rPr lang="zh-CN" altLang="en-US" sz="1600"/>
              <a:t>分配资源</a:t>
            </a:r>
            <a:r>
              <a:rPr lang="en-US" altLang="zh-CN" sz="1600"/>
              <a:t>NodeManager </a:t>
            </a:r>
            <a:r>
              <a:rPr lang="zh-CN" altLang="en-US" sz="1600"/>
              <a:t>启动 </a:t>
            </a:r>
            <a:r>
              <a:rPr lang="en-US" altLang="zh-CN" sz="1600"/>
              <a:t>Map Task </a:t>
            </a:r>
            <a:r>
              <a:rPr lang="zh-CN" altLang="en-US" sz="1600"/>
              <a:t>和 </a:t>
            </a:r>
            <a:r>
              <a:rPr lang="en-US" altLang="zh-CN" sz="1600"/>
              <a:t>Reduce Task</a:t>
            </a:r>
            <a:r>
              <a:rPr lang="zh-CN" altLang="en-US" sz="1600"/>
              <a:t>；作业完成后返回执行结果。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35333"/>
          <a:stretch>
            <a:fillRect/>
          </a:stretch>
        </p:blipFill>
        <p:spPr>
          <a:xfrm>
            <a:off x="5702300" y="2682240"/>
            <a:ext cx="5401310" cy="274510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588555"/>
            <a:ext cx="1012926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494" y="893544"/>
            <a:ext cx="9808284" cy="570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新闻数据清洗核心代码</a:t>
            </a:r>
            <a:endParaRPr lang="zh-CN" altLang="en-US" sz="2000" b="1">
              <a:solidFill>
                <a:srgbClr val="7C2326"/>
              </a:solidFill>
              <a:sym typeface="+mn-ea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CleanMapper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负责将 </a:t>
            </a:r>
            <a:r>
              <a:rPr lang="en-US" altLang="zh-CN" sz="1600"/>
              <a:t>JSON </a:t>
            </a:r>
            <a:r>
              <a:rPr lang="zh-CN" altLang="en-US" sz="1600"/>
              <a:t>格式的原始数据转换为结构化的 </a:t>
            </a:r>
            <a:r>
              <a:rPr lang="en-US" altLang="zh-CN" sz="1600"/>
              <a:t>TSV </a:t>
            </a:r>
            <a:r>
              <a:rPr lang="zh-CN" altLang="en-US" sz="1600"/>
              <a:t>格式，并实现数据质量校验。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输出 </a:t>
            </a:r>
            <a:r>
              <a:rPr lang="en-US" altLang="zh-CN" sz="1600"/>
              <a:t>Key </a:t>
            </a:r>
            <a:r>
              <a:rPr lang="zh-CN" altLang="en-US" sz="1600"/>
              <a:t>使用 </a:t>
            </a:r>
            <a:r>
              <a:rPr lang="en-US" altLang="zh-CN" sz="1600"/>
              <a:t>NullWritable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多字段提取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数据质量校验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TSV </a:t>
            </a:r>
            <a:r>
              <a:rPr lang="zh-CN" altLang="en-US" sz="1600"/>
              <a:t>格式构建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容错机制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每个 </a:t>
            </a:r>
            <a:r>
              <a:rPr lang="en-US" altLang="zh-CN" sz="1600"/>
              <a:t>Map Task </a:t>
            </a:r>
            <a:r>
              <a:rPr lang="zh-CN" altLang="en-US" sz="1600"/>
              <a:t>并行处理数据分片，对每条 </a:t>
            </a:r>
            <a:r>
              <a:rPr lang="en-US" altLang="zh-CN" sz="1600"/>
              <a:t>JSON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 </a:t>
            </a:r>
            <a:r>
              <a:rPr lang="zh-CN" altLang="en-US" sz="1600"/>
              <a:t>记录进行解析、校验和格式转换，输出清洗后的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 </a:t>
            </a:r>
            <a:r>
              <a:rPr lang="en-US" altLang="zh-CN" sz="1600"/>
              <a:t>TSV </a:t>
            </a:r>
            <a:r>
              <a:rPr lang="zh-CN" altLang="en-US" sz="1600"/>
              <a:t>格式数据。由于使用 </a:t>
            </a:r>
            <a:r>
              <a:rPr lang="en-US" altLang="zh-CN" sz="1600"/>
              <a:t>NullWritable </a:t>
            </a:r>
            <a:r>
              <a:rPr lang="zh-CN" altLang="en-US" sz="1600"/>
              <a:t>作为 </a:t>
            </a:r>
            <a:r>
              <a:rPr lang="en-US" altLang="zh-CN" sz="1600"/>
              <a:t>Key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所有有效记录都会被发送到同一个 </a:t>
            </a:r>
            <a:r>
              <a:rPr lang="en-US" altLang="zh-CN" sz="1600"/>
              <a:t>Reducer</a:t>
            </a:r>
            <a:r>
              <a:rPr lang="zh-CN" altLang="en-US" sz="1600"/>
              <a:t>。</a:t>
            </a:r>
            <a:endParaRPr kumimoji="1" lang="zh-CN" altLang="en-US" sz="16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8682" b="9230"/>
          <a:stretch>
            <a:fillRect/>
          </a:stretch>
        </p:blipFill>
        <p:spPr>
          <a:xfrm>
            <a:off x="5638165" y="2517140"/>
            <a:ext cx="6156325" cy="361442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588555"/>
            <a:ext cx="1012926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639445"/>
            <a:ext cx="10196830" cy="764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新闻数据清洗核心代码</a:t>
            </a:r>
            <a:endParaRPr lang="zh-CN" altLang="en-US" sz="2000" b="1">
              <a:solidFill>
                <a:srgbClr val="7C2326"/>
              </a:solidFill>
              <a:sym typeface="+mn-ea"/>
            </a:endParaRPr>
          </a:p>
          <a:p>
            <a:pPr indent="0" fontAlgn="auto">
              <a:lnSpc>
                <a:spcPct val="100000"/>
              </a:lnSpc>
            </a:pP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CleanReducer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由于清洗的核心逻辑（解析、校验、格式转换）已在 </a:t>
            </a:r>
            <a:r>
              <a:rPr lang="en-US" altLang="zh-CN" sz="1600"/>
              <a:t>Map </a:t>
            </a:r>
            <a:r>
              <a:rPr lang="zh-CN" altLang="en-US" sz="1600"/>
              <a:t>阶段完成，</a:t>
            </a:r>
            <a:r>
              <a:rPr lang="en-US" altLang="zh-CN" sz="1600"/>
              <a:t>Reducer </a:t>
            </a:r>
            <a:r>
              <a:rPr lang="zh-CN" altLang="en-US" sz="1600"/>
              <a:t>仅负责将清洗后的数据直接输出。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Pass-through </a:t>
            </a:r>
            <a:r>
              <a:rPr lang="zh-CN" altLang="en-US" sz="1600"/>
              <a:t>模式</a:t>
            </a:r>
            <a:endParaRPr lang="en-US" altLang="zh-CN" sz="1600"/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为什么需要 </a:t>
            </a:r>
            <a:r>
              <a:rPr lang="en-US" altLang="zh-CN" sz="1600"/>
              <a:t>Reducer</a:t>
            </a:r>
            <a:endParaRPr lang="en-US" altLang="zh-CN" sz="1600"/>
          </a:p>
          <a:p>
            <a:pPr marL="45720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数据分区与排序</a:t>
            </a:r>
            <a:endParaRPr lang="zh-CN" altLang="en-US" sz="1600"/>
          </a:p>
          <a:p>
            <a:pPr marL="45720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输出文件数量控制</a:t>
            </a:r>
            <a:endParaRPr lang="zh-CN" altLang="en-US" sz="1600"/>
          </a:p>
          <a:p>
            <a:pPr marL="45720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容错与重试</a:t>
            </a:r>
            <a:endParaRPr lang="zh-CN" altLang="en-US" sz="1600"/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迭代器遍历</a:t>
            </a:r>
            <a:endParaRPr lang="en-US" altLang="zh-CN" sz="1600"/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输出格式保持一致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 sz="1600"/>
              <a:t>每个 </a:t>
            </a:r>
            <a:r>
              <a:rPr lang="en-US" altLang="zh-CN" sz="1600"/>
              <a:t>Reducer </a:t>
            </a:r>
            <a:r>
              <a:rPr lang="zh-CN" altLang="en-US" sz="1600"/>
              <a:t>接收来自多个 </a:t>
            </a:r>
            <a:r>
              <a:rPr lang="en-US" altLang="zh-CN" sz="1600"/>
              <a:t>Map Task </a:t>
            </a:r>
            <a:r>
              <a:rPr lang="zh-CN" altLang="en-US" sz="1600"/>
              <a:t>的清洗后数据，由于所有记录的 </a:t>
            </a:r>
            <a:r>
              <a:rPr lang="en-US" altLang="zh-CN" sz="1600"/>
              <a:t>Key </a:t>
            </a:r>
            <a:r>
              <a:rPr lang="zh-CN" altLang="en-US" sz="1600"/>
              <a:t>都是 </a:t>
            </a:r>
            <a:r>
              <a:rPr lang="en-US" altLang="zh-CN" sz="1600"/>
              <a:t>NullWritable</a:t>
            </a:r>
            <a:r>
              <a:rPr lang="zh-CN" altLang="en-US" sz="1600"/>
              <a:t>，它们会被聚合到同一个 </a:t>
            </a:r>
            <a:r>
              <a:rPr lang="en-US" altLang="zh-CN" sz="1600"/>
              <a:t>Reducer</a:t>
            </a:r>
            <a:r>
              <a:rPr lang="zh-CN" altLang="en-US" sz="1600"/>
              <a:t>（或根据分区策略分配到多个 </a:t>
            </a:r>
            <a:r>
              <a:rPr lang="en-US" altLang="zh-CN" sz="1600"/>
              <a:t>Reducer</a:t>
            </a:r>
            <a:r>
              <a:rPr lang="zh-CN" altLang="en-US" sz="1600"/>
              <a:t>）。</a:t>
            </a:r>
            <a:r>
              <a:rPr lang="en-US" altLang="zh-CN" sz="1600"/>
              <a:t>Reducer </a:t>
            </a:r>
            <a:r>
              <a:rPr lang="zh-CN" altLang="en-US" sz="1600"/>
              <a:t>遍历所有记录并直接输出，最终生成结构化的 </a:t>
            </a:r>
            <a:r>
              <a:rPr lang="en-US" altLang="zh-CN" sz="1600"/>
              <a:t>TSV </a:t>
            </a:r>
            <a:r>
              <a:rPr lang="zh-CN" altLang="en-US" sz="1600"/>
              <a:t>文件，供后续 </a:t>
            </a:r>
            <a:r>
              <a:rPr lang="en-US" altLang="zh-CN" sz="1600"/>
              <a:t>Hive </a:t>
            </a:r>
            <a:r>
              <a:rPr lang="zh-CN" altLang="en-US" sz="1600"/>
              <a:t>实验使用。</a:t>
            </a:r>
            <a:endParaRPr lang="zh-CN" altLang="en-US" sz="1600"/>
          </a:p>
          <a:p>
            <a:pPr marL="457200" lvl="2" indent="-285750"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457200" lvl="2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457200" lvl="2" indent="-285750">
              <a:buFont typeface="Arial" panose="020B0604020202020204" pitchFamily="34" charset="0"/>
              <a:buChar char="•"/>
            </a:pPr>
            <a:endParaRPr lang="zh-CN" altLang="en-US" sz="1600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2456" r="4688"/>
          <a:stretch>
            <a:fillRect/>
          </a:stretch>
        </p:blipFill>
        <p:spPr>
          <a:xfrm>
            <a:off x="5144770" y="2284095"/>
            <a:ext cx="6545580" cy="328041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30466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588555"/>
            <a:ext cx="1012926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463" y="800921"/>
            <a:ext cx="9808284" cy="669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7C2326"/>
                </a:solidFill>
                <a:sym typeface="+mn-ea"/>
              </a:rPr>
              <a:t>新闻数据清洗核心代码</a:t>
            </a:r>
            <a:endParaRPr lang="zh-CN" altLang="en-US" sz="2000" b="1">
              <a:solidFill>
                <a:srgbClr val="7C2326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CleanDriver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负责配置作业参数、参数校验和作业提交。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参数校验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输入输出格式类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输出类型配置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作业命名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 sz="1600"/>
              <a:t>Driver </a:t>
            </a:r>
            <a:r>
              <a:rPr lang="zh-CN" altLang="en-US" sz="1600"/>
              <a:t>在客户端运行，验证参数后创建 </a:t>
            </a:r>
            <a:r>
              <a:rPr lang="en-US" altLang="zh-CN" sz="1600"/>
              <a:t>Job </a:t>
            </a:r>
            <a:r>
              <a:rPr lang="zh-CN" altLang="en-US" sz="1600"/>
              <a:t>对象并配置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各项参数，提交作业到 </a:t>
            </a:r>
            <a:r>
              <a:rPr lang="en-US" altLang="zh-CN" sz="1600"/>
              <a:t>Hadoop </a:t>
            </a:r>
            <a:r>
              <a:rPr lang="zh-CN" altLang="en-US" sz="1600"/>
              <a:t>集群；集群执行 </a:t>
            </a:r>
            <a:r>
              <a:rPr lang="en-US" altLang="zh-CN" sz="1600"/>
              <a:t>Map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 </a:t>
            </a:r>
            <a:r>
              <a:rPr lang="zh-CN" altLang="en-US" sz="1600"/>
              <a:t>和 </a:t>
            </a:r>
            <a:r>
              <a:rPr lang="en-US" altLang="zh-CN" sz="1600"/>
              <a:t>Reduce </a:t>
            </a:r>
            <a:r>
              <a:rPr lang="zh-CN" altLang="en-US" sz="1600"/>
              <a:t>任务，完成数据清洗并输出 </a:t>
            </a:r>
            <a:r>
              <a:rPr lang="en-US" altLang="zh-CN" sz="1600"/>
              <a:t>TSV </a:t>
            </a:r>
            <a:r>
              <a:rPr lang="zh-CN" altLang="en-US" sz="1600"/>
              <a:t>格式文件。</a:t>
            </a:r>
            <a:endParaRPr lang="en-US" altLang="zh-CN" sz="1600"/>
          </a:p>
          <a:p>
            <a:endParaRPr lang="zh-CN" altLang="en-US" sz="1600"/>
          </a:p>
          <a:p>
            <a:pPr marL="0" lvl="2"/>
            <a:endParaRPr lang="en-US" altLang="zh-CN" sz="1600"/>
          </a:p>
          <a:p>
            <a:pPr marL="457200" lvl="2" indent="-285750">
              <a:buFont typeface="Arial" panose="020B0604020202020204" pitchFamily="34" charset="0"/>
              <a:buChar char="•"/>
            </a:pPr>
            <a:endParaRPr lang="zh-CN" altLang="en-US" sz="1600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0684" y="1498836"/>
            <a:ext cx="5627345" cy="4903618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495" y="1155984"/>
            <a:ext cx="980828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实验结果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00" y="1832180"/>
            <a:ext cx="8172450" cy="4210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362" y="2611226"/>
            <a:ext cx="8220075" cy="357187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164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一、基础数据预处理与分析阶段（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MapReduce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4672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二、数据仓库构建与分析阶段（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Hive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495" y="1338864"/>
            <a:ext cx="9808284" cy="458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实验概述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本实验作为大数据处理技术项目的数据仓库构建与分析阶段，采用 </a:t>
            </a:r>
            <a:r>
              <a:rPr lang="en-US" altLang="zh-CN"/>
              <a:t>Apache Hive </a:t>
            </a:r>
            <a:r>
              <a:rPr lang="zh-CN" altLang="en-US"/>
              <a:t>作为数据仓库工具，对 </a:t>
            </a:r>
            <a:r>
              <a:rPr lang="en-US" altLang="zh-CN"/>
              <a:t>MapReduce </a:t>
            </a:r>
            <a:r>
              <a:rPr lang="zh-CN" altLang="en-US"/>
              <a:t>清洗后的结构化数据进行存储和深度分析。</a:t>
            </a:r>
            <a:r>
              <a:rPr lang="en-US" altLang="zh-CN"/>
              <a:t>Hive </a:t>
            </a:r>
            <a:r>
              <a:rPr lang="zh-CN" altLang="en-US"/>
              <a:t>基于 </a:t>
            </a:r>
            <a:r>
              <a:rPr lang="en-US" altLang="zh-CN"/>
              <a:t>Hadoop </a:t>
            </a:r>
            <a:r>
              <a:rPr lang="zh-CN" altLang="en-US"/>
              <a:t>构建，提供了类似 </a:t>
            </a:r>
            <a:r>
              <a:rPr lang="en-US" altLang="zh-CN"/>
              <a:t>SQL </a:t>
            </a:r>
            <a:r>
              <a:rPr lang="zh-CN" altLang="en-US"/>
              <a:t>的查询语言（</a:t>
            </a:r>
            <a:r>
              <a:rPr lang="en-US" altLang="zh-CN"/>
              <a:t>HiveQL</a:t>
            </a:r>
            <a:r>
              <a:rPr lang="zh-CN" altLang="en-US"/>
              <a:t>），使得熟悉 </a:t>
            </a:r>
            <a:r>
              <a:rPr lang="en-US" altLang="zh-CN"/>
              <a:t>SQL </a:t>
            </a:r>
            <a:r>
              <a:rPr lang="zh-CN" altLang="en-US"/>
              <a:t>的数据分析师能够直接对存储在 </a:t>
            </a:r>
            <a:r>
              <a:rPr lang="en-US" altLang="zh-CN"/>
              <a:t>HDFS </a:t>
            </a:r>
            <a:r>
              <a:rPr lang="zh-CN" altLang="en-US"/>
              <a:t>上的大数据进行查询分析，无需编写复杂的 </a:t>
            </a:r>
            <a:r>
              <a:rPr lang="en-US" altLang="zh-CN"/>
              <a:t>MapReduce </a:t>
            </a:r>
            <a:r>
              <a:rPr lang="zh-CN" altLang="en-US"/>
              <a:t>程序。</a:t>
            </a:r>
            <a:endParaRPr lang="en-US" altLang="zh-CN"/>
          </a:p>
          <a:p>
            <a:endParaRPr lang="en-US" altLang="zh-CN"/>
          </a:p>
          <a:p>
            <a:r>
              <a:rPr lang="zh-CN" altLang="en-US" sz="2000" b="1">
                <a:solidFill>
                  <a:srgbClr val="7C2326"/>
                </a:solidFill>
              </a:rPr>
              <a:t>核心价值</a:t>
            </a:r>
            <a:endParaRPr lang="en-US" altLang="zh-CN" sz="2000" b="1">
              <a:solidFill>
                <a:srgbClr val="7C2326"/>
              </a:solidFill>
            </a:endParaRPr>
          </a:p>
          <a:p>
            <a:endParaRPr lang="en-US" altLang="zh-CN" sz="2400" b="1">
              <a:solidFill>
                <a:srgbClr val="7C2326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将 </a:t>
            </a:r>
            <a:r>
              <a:rPr lang="en-US" altLang="zh-CN"/>
              <a:t>MapReduce </a:t>
            </a:r>
            <a:r>
              <a:rPr lang="zh-CN" altLang="en-US"/>
              <a:t>的批处理能力与 </a:t>
            </a:r>
            <a:r>
              <a:rPr lang="en-US" altLang="zh-CN"/>
              <a:t>SQL </a:t>
            </a:r>
            <a:r>
              <a:rPr lang="zh-CN" altLang="en-US"/>
              <a:t>的易用性相结合，实现了从原始数据到业务洞察的快速转换，为后续 </a:t>
            </a:r>
            <a:r>
              <a:rPr lang="en-US" altLang="zh-CN"/>
              <a:t>Spark </a:t>
            </a:r>
            <a:r>
              <a:rPr lang="zh-CN" altLang="en-US"/>
              <a:t>高级分析和 </a:t>
            </a:r>
            <a:r>
              <a:rPr lang="en-US" altLang="zh-CN"/>
              <a:t>HBase </a:t>
            </a:r>
            <a:r>
              <a:rPr lang="zh-CN" altLang="en-US"/>
              <a:t>实时查询提供了高质量的数据基础。</a:t>
            </a:r>
            <a:endParaRPr lang="zh-CN" altLang="en-US"/>
          </a:p>
          <a:p>
            <a:endParaRPr lang="en-US" altLang="zh-CN" sz="2400" b="1">
              <a:solidFill>
                <a:srgbClr val="7C232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495" y="1338864"/>
            <a:ext cx="9808284" cy="5000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数据集变化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本实验基于 </a:t>
            </a:r>
            <a:r>
              <a:rPr lang="en-US" altLang="zh-CN"/>
              <a:t>MapReduce </a:t>
            </a:r>
            <a:r>
              <a:rPr lang="zh-CN" altLang="en-US"/>
              <a:t>清洗后的数据 </a:t>
            </a:r>
            <a:r>
              <a:rPr lang="en-US" altLang="zh-CN"/>
              <a:t>/news_cleaned</a:t>
            </a:r>
            <a:r>
              <a:rPr lang="zh-CN" altLang="en-US"/>
              <a:t>，该数据已经被处理为 </a:t>
            </a:r>
            <a:r>
              <a:rPr lang="en-US" altLang="zh-CN"/>
              <a:t>Hive </a:t>
            </a:r>
            <a:r>
              <a:rPr lang="zh-CN" altLang="en-US"/>
              <a:t>能够加载的 </a:t>
            </a:r>
            <a:r>
              <a:rPr lang="en-US" altLang="zh-CN"/>
              <a:t>TSV </a:t>
            </a:r>
            <a:r>
              <a:rPr lang="zh-CN" altLang="en-US"/>
              <a:t>结构：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| category | date | authors | headline | short_description |</a:t>
            </a:r>
            <a:endParaRPr lang="en-US" altLang="zh-CN"/>
          </a:p>
          <a:p>
            <a:endParaRPr lang="en-US" altLang="zh-CN"/>
          </a:p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数据特点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格式</a:t>
            </a:r>
            <a:r>
              <a:rPr lang="zh-CN" altLang="en-US"/>
              <a:t>：</a:t>
            </a:r>
            <a:r>
              <a:rPr lang="en-US" altLang="zh-CN"/>
              <a:t>TSV</a:t>
            </a:r>
            <a:r>
              <a:rPr lang="zh-CN" altLang="en-US"/>
              <a:t>（</a:t>
            </a:r>
            <a:r>
              <a:rPr lang="en-US" altLang="zh-CN"/>
              <a:t>Tab-Separated Values</a:t>
            </a:r>
            <a:r>
              <a:rPr lang="zh-CN" altLang="en-US"/>
              <a:t>），字段以制表符分隔，便于 </a:t>
            </a:r>
            <a:r>
              <a:rPr lang="en-US" altLang="zh-CN"/>
              <a:t>Hive </a:t>
            </a:r>
            <a:r>
              <a:rPr lang="zh-CN" altLang="en-US"/>
              <a:t>直接加载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规模</a:t>
            </a:r>
            <a:r>
              <a:rPr lang="zh-CN" altLang="en-US"/>
              <a:t>：包含大约二十万条清洗后的新闻记录，数据质量已通过 </a:t>
            </a:r>
            <a:r>
              <a:rPr lang="en-US" altLang="zh-CN"/>
              <a:t>MapReduce </a:t>
            </a:r>
            <a:r>
              <a:rPr lang="zh-CN" altLang="en-US"/>
              <a:t>阶段验证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结构</a:t>
            </a:r>
            <a:r>
              <a:rPr lang="zh-CN" altLang="en-US"/>
              <a:t>：扁平化结构，无嵌套字段，适合关系型数据仓库模型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来源</a:t>
            </a:r>
            <a:r>
              <a:rPr lang="zh-CN" altLang="en-US"/>
              <a:t>：来自 </a:t>
            </a:r>
            <a:r>
              <a:rPr lang="en-US" altLang="zh-CN"/>
              <a:t>MapReduce </a:t>
            </a:r>
            <a:r>
              <a:rPr lang="zh-CN" altLang="en-US"/>
              <a:t>数据清洗任务的输出，体现了大数据流水线的数据流转</a:t>
            </a:r>
            <a:endParaRPr lang="zh-CN" altLang="en-US"/>
          </a:p>
          <a:p>
            <a:endParaRPr lang="en-US" altLang="zh-CN" sz="2400" b="1">
              <a:solidFill>
                <a:srgbClr val="7C2326"/>
              </a:solidFill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672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二、数据仓库构建与分析阶段（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Hive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495" y="1382407"/>
            <a:ext cx="9808284" cy="5985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实验目标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目标一：构建新闻数据仓库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目标二：执行新闻分析任务</a:t>
            </a:r>
            <a:endParaRPr lang="en-US" altLang="zh-CN" b="1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查询每个类别的新闻数量</a:t>
            </a:r>
            <a:endParaRPr lang="en-US" altLang="zh-CN" sz="160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查询新闻最多的前 </a:t>
            </a:r>
            <a:r>
              <a:rPr lang="en-US" altLang="zh-CN" sz="1600"/>
              <a:t>10 </a:t>
            </a:r>
            <a:r>
              <a:rPr lang="zh-CN" altLang="en-US" sz="1600"/>
              <a:t>个作者</a:t>
            </a:r>
            <a:endParaRPr lang="en-US" altLang="zh-CN" sz="160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按年份统计新闻数量</a:t>
            </a:r>
            <a:endParaRPr lang="en-US" altLang="zh-CN" sz="160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查询标题长度平均值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目标三：保存查询结果到 </a:t>
            </a:r>
            <a:r>
              <a:rPr lang="en-US" altLang="zh-CN" b="1"/>
              <a:t>HDFS</a:t>
            </a:r>
            <a:endParaRPr lang="en-US" altLang="zh-CN" b="1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category_count</a:t>
            </a:r>
            <a:r>
              <a:rPr lang="zh-CN" altLang="en-US" sz="1600"/>
              <a:t>：类别统计结果</a:t>
            </a:r>
            <a:endParaRPr lang="zh-CN" altLang="en-US" sz="160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top_authors</a:t>
            </a:r>
            <a:r>
              <a:rPr lang="zh-CN" altLang="en-US" sz="1600"/>
              <a:t>：作者排名结果</a:t>
            </a:r>
            <a:endParaRPr lang="zh-CN" altLang="en-US" sz="160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yearly_count</a:t>
            </a:r>
            <a:r>
              <a:rPr lang="zh-CN" altLang="en-US" sz="1600"/>
              <a:t>：年度统计结果</a:t>
            </a:r>
            <a:endParaRPr lang="zh-CN" altLang="en-US" sz="160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headline_avglen</a:t>
            </a:r>
            <a:r>
              <a:rPr lang="zh-CN" altLang="en-US" sz="1600"/>
              <a:t>：标题平均长度</a:t>
            </a:r>
            <a:endParaRPr lang="zh-CN" altLang="en-US" sz="1600"/>
          </a:p>
          <a:p>
            <a:pPr marL="1257300" lvl="2" indent="-342900">
              <a:buFont typeface="+mj-lt"/>
              <a:buAutoNum type="arabicPeriod"/>
            </a:pPr>
            <a:endParaRPr lang="zh-CN" altLang="en-US" b="1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672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二、数据仓库构建与分析阶段（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Hive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890" y="1260475"/>
            <a:ext cx="5518785" cy="50888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670" y="945515"/>
            <a:ext cx="9808210" cy="570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b="1"/>
              <a:t>一、查询设计：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典型的分组聚合查询，展示了 </a:t>
            </a:r>
            <a:r>
              <a:rPr lang="en-US" altLang="zh-CN" sz="1600"/>
              <a:t>Hive </a:t>
            </a:r>
            <a:r>
              <a:rPr lang="zh-CN" altLang="en-US" sz="1600"/>
              <a:t>在分类统计场景下的核心能力。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GROUP BY category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COUNT(*) 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ORDER BY cnt DESC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执行计划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二、查询设计：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sz="1600"/>
              <a:t>Top-N </a:t>
            </a:r>
            <a:r>
              <a:rPr lang="zh-CN" altLang="en-US" sz="1600"/>
              <a:t>查询，结合了数据过滤、分组聚合、排序和限制结果集，展示了 </a:t>
            </a:r>
            <a:r>
              <a:rPr lang="en-US" altLang="zh-CN" sz="1600"/>
              <a:t>Hive </a:t>
            </a:r>
            <a:r>
              <a:rPr lang="zh-CN" altLang="en-US" sz="1600"/>
              <a:t>在排名分析场景下的综合能力。</a:t>
            </a:r>
            <a:br>
              <a:rPr lang="zh-CN" altLang="en-US"/>
            </a:b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WHERE </a:t>
            </a:r>
            <a:r>
              <a:rPr lang="zh-CN" altLang="en-US" sz="1600"/>
              <a:t>子句过滤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GROUP BY authors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ORDER BY cnt DESC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LIMIT 10</a:t>
            </a:r>
            <a:endParaRPr kumimoji="1" lang="en-US" altLang="zh-CN" sz="16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23104" b="8339"/>
          <a:stretch>
            <a:fillRect/>
          </a:stretch>
        </p:blipFill>
        <p:spPr>
          <a:xfrm>
            <a:off x="6700520" y="2274570"/>
            <a:ext cx="3618230" cy="17659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4800"/>
          <a:stretch>
            <a:fillRect/>
          </a:stretch>
        </p:blipFill>
        <p:spPr>
          <a:xfrm>
            <a:off x="6700520" y="4803775"/>
            <a:ext cx="3712845" cy="179578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672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二、数据仓库构建与分析阶段（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Hive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26770" y="890905"/>
            <a:ext cx="9808210" cy="37649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b="1"/>
              <a:t>三、查询设计：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时间维度分析查询，通过字符串函数提取日期字段中的年份，实现按年份的聚合统计，展示了 </a:t>
            </a:r>
            <a:r>
              <a:rPr lang="en-US" altLang="zh-CN" sz="1600"/>
              <a:t>Hive </a:t>
            </a:r>
            <a:r>
              <a:rPr lang="zh-CN" altLang="en-US" sz="1600"/>
              <a:t>在时间序列分析中的应用</a:t>
            </a:r>
            <a:r>
              <a:rPr lang="zh-CN" altLang="en-US"/>
              <a:t>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r>
              <a:rPr lang="en-US" altLang="zh-CN" b="1"/>
              <a:t>: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字符串函数 </a:t>
            </a:r>
            <a:r>
              <a:rPr lang="en-US" altLang="zh-CN" sz="1600"/>
              <a:t>substr()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反引号转义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GROUP BY </a:t>
            </a:r>
            <a:r>
              <a:rPr lang="zh-CN" altLang="en-US" sz="1600"/>
              <a:t>表达式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ORDER BY year</a:t>
            </a:r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672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二、数据仓库构建与分析阶段（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Hive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70" y="4577080"/>
            <a:ext cx="611505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98018" y="1122913"/>
            <a:ext cx="9808284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各任务实验结果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738" y="1861457"/>
            <a:ext cx="2248406" cy="37795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633" y="2167237"/>
            <a:ext cx="2581275" cy="29813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276" y="2043412"/>
            <a:ext cx="1685925" cy="3105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826" y="3236758"/>
            <a:ext cx="2095500" cy="3429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5803" y="5738958"/>
            <a:ext cx="200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/>
              <a:t>查询每个类别的新闻数量</a:t>
            </a:r>
            <a:endParaRPr lang="en-US" altLang="zh-CN" sz="1200" b="1"/>
          </a:p>
        </p:txBody>
      </p:sp>
      <p:sp>
        <p:nvSpPr>
          <p:cNvPr id="13" name="文本框 12"/>
          <p:cNvSpPr txBox="1"/>
          <p:nvPr/>
        </p:nvSpPr>
        <p:spPr>
          <a:xfrm>
            <a:off x="3766717" y="5738957"/>
            <a:ext cx="2218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zh-CN" altLang="en-US" sz="1200" b="1"/>
              <a:t>查询新闻最多的前 </a:t>
            </a:r>
            <a:r>
              <a:rPr lang="en-US" altLang="zh-CN" sz="1200" b="1"/>
              <a:t>10 </a:t>
            </a:r>
            <a:r>
              <a:rPr lang="zh-CN" altLang="en-US" sz="1200" b="1"/>
              <a:t>个作者</a:t>
            </a:r>
            <a:endParaRPr lang="en-US" altLang="zh-CN" sz="1200" b="1"/>
          </a:p>
        </p:txBody>
      </p:sp>
      <p:sp>
        <p:nvSpPr>
          <p:cNvPr id="14" name="文本框 13"/>
          <p:cNvSpPr txBox="1"/>
          <p:nvPr/>
        </p:nvSpPr>
        <p:spPr>
          <a:xfrm>
            <a:off x="8566141" y="5738957"/>
            <a:ext cx="2915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zh-CN" altLang="en-US" sz="1200" b="1"/>
              <a:t>查询标题长度平均值</a:t>
            </a:r>
            <a:endParaRPr lang="en-US" altLang="zh-CN" sz="1200" b="1"/>
          </a:p>
        </p:txBody>
      </p:sp>
      <p:sp>
        <p:nvSpPr>
          <p:cNvPr id="15" name="文本框 14"/>
          <p:cNvSpPr txBox="1"/>
          <p:nvPr/>
        </p:nvSpPr>
        <p:spPr>
          <a:xfrm>
            <a:off x="5984866" y="5738956"/>
            <a:ext cx="2581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zh-CN" altLang="en-US" sz="1200" b="1"/>
              <a:t>按年份统计新闻数量</a:t>
            </a:r>
            <a:endParaRPr lang="en-US" altLang="zh-CN" sz="1200" b="1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6722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二、数据仓库构建与分析阶段（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Hive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338580"/>
            <a:ext cx="10147300" cy="5000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实验概述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本实验作为大数据处理技术项目的高级分析与机器学习阶段，采用 </a:t>
            </a:r>
            <a:r>
              <a:rPr lang="en-US" altLang="zh-CN"/>
              <a:t>Apache Spark </a:t>
            </a:r>
            <a:r>
              <a:rPr lang="zh-CN" altLang="en-US"/>
              <a:t>框架对新闻数据进行深度分析和特征提取。</a:t>
            </a:r>
            <a:r>
              <a:rPr lang="en-US" altLang="zh-CN"/>
              <a:t>Spark </a:t>
            </a:r>
            <a:r>
              <a:rPr lang="zh-CN" altLang="en-US"/>
              <a:t>作为新一代大数据计算引擎，相比 </a:t>
            </a:r>
            <a:r>
              <a:rPr lang="en-US" altLang="zh-CN"/>
              <a:t>MapReduce </a:t>
            </a:r>
            <a:r>
              <a:rPr lang="zh-CN" altLang="en-US"/>
              <a:t>具有内存计算和</a:t>
            </a:r>
            <a:r>
              <a:rPr lang="en-US" altLang="zh-CN"/>
              <a:t> DAG </a:t>
            </a:r>
            <a:r>
              <a:rPr lang="zh-CN" altLang="en-US"/>
              <a:t>执行引擎的优势，能够实现 </a:t>
            </a:r>
            <a:r>
              <a:rPr lang="en-US" altLang="zh-CN"/>
              <a:t>10-100 </a:t>
            </a:r>
            <a:r>
              <a:rPr lang="zh-CN" altLang="en-US"/>
              <a:t>倍的性能提升。</a:t>
            </a:r>
            <a:endParaRPr lang="zh-CN" altLang="en-US"/>
          </a:p>
          <a:p>
            <a:endParaRPr lang="en-US" altLang="zh-CN"/>
          </a:p>
          <a:p>
            <a:r>
              <a:rPr lang="zh-CN" altLang="en-US" sz="2000" b="1">
                <a:solidFill>
                  <a:srgbClr val="7C2326"/>
                </a:solidFill>
              </a:rPr>
              <a:t>核心价值</a:t>
            </a:r>
            <a:endParaRPr lang="en-US" altLang="zh-CN" sz="2000" b="1">
              <a:solidFill>
                <a:srgbClr val="7C2326"/>
              </a:solidFill>
            </a:endParaRPr>
          </a:p>
          <a:p>
            <a:endParaRPr lang="en-US" altLang="zh-CN" sz="2400" b="1">
              <a:solidFill>
                <a:srgbClr val="7C2326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全面展示 </a:t>
            </a:r>
            <a:r>
              <a:rPr lang="en-US" altLang="zh-CN"/>
              <a:t>Spark </a:t>
            </a:r>
            <a:r>
              <a:rPr lang="zh-CN" altLang="en-US"/>
              <a:t>三大核心组件的应用场景：</a:t>
            </a:r>
            <a:endParaRPr lang="en-US" altLang="zh-CN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/>
              <a:t>Spark Core RDD </a:t>
            </a:r>
            <a:r>
              <a:rPr lang="zh-CN" altLang="en-US"/>
              <a:t>用于底层数据处理</a:t>
            </a:r>
            <a:endParaRPr lang="en-US" altLang="zh-CN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/>
              <a:t>Spark DataFrame/SQL </a:t>
            </a:r>
            <a:r>
              <a:rPr lang="zh-CN" altLang="en-US"/>
              <a:t>用于结构化数据分析</a:t>
            </a:r>
            <a:endParaRPr lang="en-US" altLang="zh-CN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/>
              <a:t>Spark MLlib </a:t>
            </a:r>
            <a:r>
              <a:rPr lang="zh-CN" altLang="en-US"/>
              <a:t>用于机器学习特征工程</a:t>
            </a:r>
            <a:endParaRPr lang="zh-CN" altLang="en-US"/>
          </a:p>
          <a:p>
            <a:endParaRPr lang="en-US" altLang="zh-CN" sz="2400" b="1">
              <a:solidFill>
                <a:srgbClr val="7C232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670" y="1179195"/>
            <a:ext cx="4350385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实验目标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目标一：基于 </a:t>
            </a:r>
            <a:r>
              <a:rPr lang="en-US" altLang="zh-CN" b="1"/>
              <a:t>Spark Core RDD </a:t>
            </a:r>
            <a:r>
              <a:rPr lang="zh-CN" altLang="en-US" b="1"/>
              <a:t>实现新闻作者影响力分数计算</a:t>
            </a:r>
            <a:endParaRPr lang="en-US" altLang="zh-CN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目标二：基于 </a:t>
            </a:r>
            <a:r>
              <a:rPr lang="en-US" altLang="zh-CN" b="1"/>
              <a:t>Spark DataFrame/SQL </a:t>
            </a:r>
            <a:r>
              <a:rPr lang="zh-CN" altLang="en-US" b="1"/>
              <a:t>完成热门新闻类别分析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目标三：基于 </a:t>
            </a:r>
            <a:r>
              <a:rPr lang="en-US" altLang="zh-CN" b="1"/>
              <a:t>Spark MLlib </a:t>
            </a:r>
            <a:r>
              <a:rPr lang="zh-CN" altLang="en-US" b="1"/>
              <a:t>提取新闻标题 </a:t>
            </a:r>
            <a:r>
              <a:rPr lang="en-US" altLang="zh-CN" b="1"/>
              <a:t>TF-IDF </a:t>
            </a:r>
            <a:r>
              <a:rPr lang="zh-CN" altLang="en-US" b="1"/>
              <a:t>特征</a:t>
            </a:r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740" y="1689735"/>
            <a:ext cx="6139815" cy="4413250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1015" y="1179195"/>
            <a:ext cx="10129520" cy="623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背景介绍（</a:t>
            </a:r>
            <a:r>
              <a:rPr kumimoji="1" lang="en-US" altLang="zh-CN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 Core RDD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en-US" altLang="zh-CN"/>
              <a:t>RDD（Resilient Distributed Dataset）：</a:t>
            </a:r>
            <a:r>
              <a:rPr lang="zh-CN" altLang="en-US"/>
              <a:t>是 </a:t>
            </a:r>
            <a:r>
              <a:rPr lang="en-US" altLang="zh-CN"/>
              <a:t>Spark </a:t>
            </a:r>
            <a:r>
              <a:rPr lang="zh-CN" altLang="en-US"/>
              <a:t>最核心的底层数据结构，是分布式的、不可变的元素集合。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核心特性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分布式存储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弹性（</a:t>
            </a:r>
            <a:r>
              <a:rPr lang="en-US" altLang="zh-CN" b="1"/>
              <a:t>Resilient</a:t>
            </a:r>
            <a:r>
              <a:rPr lang="zh-CN" altLang="en-US" b="1"/>
              <a:t>）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不可变性（</a:t>
            </a:r>
            <a:r>
              <a:rPr lang="en-US" altLang="zh-CN" b="1"/>
              <a:t>Immutability</a:t>
            </a:r>
            <a:r>
              <a:rPr lang="zh-CN" altLang="en-US" b="1"/>
              <a:t>）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底层接口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适用场景</a:t>
            </a:r>
            <a:endParaRPr lang="en-US" altLang="zh-CN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非结构化</a:t>
            </a:r>
            <a:r>
              <a:rPr lang="en-US" altLang="zh-CN"/>
              <a:t>/</a:t>
            </a:r>
            <a:r>
              <a:rPr lang="zh-CN" altLang="en-US"/>
              <a:t>半结构化数据处理（如文本、日志、</a:t>
            </a:r>
            <a:r>
              <a:rPr lang="en-US" altLang="zh-CN"/>
              <a:t>JSON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复杂的自定义数据转换逻辑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需要精确控制数据分区和计算流程的场景</a:t>
            </a:r>
            <a:endParaRPr lang="zh-CN" altLang="en-US"/>
          </a:p>
          <a:p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93815" y="2468245"/>
            <a:ext cx="5578475" cy="4001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在本实验中的应用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AuthorInfluenceAnalyzer </a:t>
            </a:r>
            <a:r>
              <a:rPr lang="zh-CN" altLang="en-US" b="1"/>
              <a:t>类：</a:t>
            </a:r>
            <a:r>
              <a:rPr lang="zh-CN" altLang="en-US"/>
              <a:t>使用 </a:t>
            </a:r>
            <a:r>
              <a:rPr lang="en-US" altLang="zh-CN"/>
              <a:t>RDD </a:t>
            </a:r>
            <a:r>
              <a:rPr lang="zh-CN" altLang="en-US"/>
              <a:t>实现作者影响力计算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  使用 </a:t>
            </a:r>
            <a:r>
              <a:rPr lang="en-US" altLang="zh-CN"/>
              <a:t>JavaRDD&lt;String&gt;</a:t>
            </a:r>
            <a:r>
              <a:rPr lang="zh-CN" altLang="en-US"/>
              <a:t> 加载文本数据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  使用 </a:t>
            </a:r>
            <a:r>
              <a:rPr lang="en-US" altLang="zh-CN"/>
              <a:t>mapToPair</a:t>
            </a:r>
            <a:r>
              <a:rPr lang="zh-CN" altLang="en-US"/>
              <a:t> 将文本行转换为键值对 </a:t>
            </a:r>
            <a:r>
              <a:rPr lang="en-US" altLang="zh-CN"/>
              <a:t>(</a:t>
            </a:r>
            <a:r>
              <a:rPr lang="zh-CN" altLang="en-US"/>
              <a:t>作者</a:t>
            </a:r>
            <a:r>
              <a:rPr lang="en-US" altLang="zh-CN"/>
              <a:t>, (</a:t>
            </a:r>
            <a:r>
              <a:rPr lang="zh-CN" altLang="en-US"/>
              <a:t>文章数</a:t>
            </a:r>
            <a:r>
              <a:rPr lang="en-US" altLang="zh-CN"/>
              <a:t>, </a:t>
            </a:r>
            <a:r>
              <a:rPr lang="zh-CN" altLang="en-US"/>
              <a:t>标题长度</a:t>
            </a:r>
            <a:r>
              <a:rPr lang="en-US" altLang="zh-CN"/>
              <a:t>))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  使用 </a:t>
            </a:r>
            <a:r>
              <a:rPr lang="en-US" altLang="zh-CN"/>
              <a:t>reduceByKey</a:t>
            </a:r>
            <a:r>
              <a:rPr lang="zh-CN" altLang="en-US"/>
              <a:t> 实现按作者聚合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  使用 </a:t>
            </a:r>
            <a:r>
              <a:rPr lang="en-US" altLang="zh-CN"/>
              <a:t>mapValues</a:t>
            </a:r>
            <a:r>
              <a:rPr lang="zh-CN" altLang="en-US"/>
              <a:t> 计算影响力分数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  体现了 </a:t>
            </a:r>
            <a:r>
              <a:rPr lang="en-US" altLang="zh-CN"/>
              <a:t>RDD </a:t>
            </a:r>
            <a:r>
              <a:rPr lang="zh-CN" altLang="en-US"/>
              <a:t>在</a:t>
            </a:r>
            <a:r>
              <a:rPr lang="zh-CN" altLang="en-US" b="1"/>
              <a:t>复杂自定义聚合逻辑</a:t>
            </a:r>
            <a:r>
              <a:rPr lang="zh-CN" altLang="en-US"/>
              <a:t>中的灵活性  </a:t>
            </a:r>
            <a:endParaRPr lang="zh-CN" altLang="en-US"/>
          </a:p>
          <a:p>
            <a:br>
              <a:rPr lang="zh-CN" altLang="en-US"/>
            </a:br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1015" y="955675"/>
            <a:ext cx="10129520" cy="66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背景介绍（</a:t>
            </a:r>
            <a:r>
              <a:rPr kumimoji="1" lang="en-US" altLang="zh-CN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 DataFrame/SQL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800"/>
              <a:t>DataFrame：</a:t>
            </a:r>
            <a:r>
              <a:rPr lang="zh-CN" altLang="en-US"/>
              <a:t>是带有 </a:t>
            </a:r>
            <a:r>
              <a:rPr lang="en-US" altLang="zh-CN"/>
              <a:t>schema</a:t>
            </a:r>
            <a:r>
              <a:rPr lang="zh-CN" altLang="en-US"/>
              <a:t>（结构信息，类似数据库表的字段定义）的分布式数据集。</a:t>
            </a: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en-US" altLang="zh-CN" sz="1800"/>
              <a:t>Spark SQL： </a:t>
            </a:r>
            <a:r>
              <a:rPr lang="zh-CN" altLang="en-US"/>
              <a:t>基于 </a:t>
            </a:r>
            <a:r>
              <a:rPr lang="en-US" altLang="zh-CN"/>
              <a:t>DataFrame </a:t>
            </a:r>
            <a:r>
              <a:rPr lang="zh-CN" altLang="en-US"/>
              <a:t>提供 </a:t>
            </a:r>
            <a:r>
              <a:rPr lang="en-US" altLang="zh-CN"/>
              <a:t>SQL </a:t>
            </a:r>
            <a:r>
              <a:rPr lang="zh-CN" altLang="en-US"/>
              <a:t>接口，支持用 </a:t>
            </a:r>
            <a:r>
              <a:rPr lang="en-US" altLang="zh-CN"/>
              <a:t>SQL </a:t>
            </a:r>
            <a:r>
              <a:rPr lang="zh-CN" altLang="en-US"/>
              <a:t>语句查询数据，同时兼容 </a:t>
            </a:r>
            <a:r>
              <a:rPr lang="en-US" altLang="zh-CN"/>
              <a:t>DataFrame </a:t>
            </a:r>
            <a:r>
              <a:rPr lang="zh-CN" altLang="en-US"/>
              <a:t>的 </a:t>
            </a:r>
            <a:r>
              <a:rPr lang="en-US" altLang="zh-CN"/>
              <a:t>API </a:t>
            </a:r>
            <a:r>
              <a:rPr lang="zh-CN" altLang="en-US"/>
              <a:t>操作。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核心特性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结构化</a:t>
            </a:r>
            <a:endParaRPr lang="zh-CN" altLang="en-US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优化执行</a:t>
            </a:r>
            <a:endParaRPr lang="zh-CN" altLang="en-US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高层接口</a:t>
            </a:r>
            <a:endParaRPr lang="zh-CN" altLang="en-US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统一数据源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适用场景</a:t>
            </a:r>
            <a:endParaRPr lang="en-US" altLang="zh-CN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结构化数据统计分析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需要 </a:t>
            </a:r>
            <a:r>
              <a:rPr lang="en-US" altLang="zh-CN"/>
              <a:t>SQL </a:t>
            </a:r>
            <a:r>
              <a:rPr lang="zh-CN" altLang="en-US"/>
              <a:t>交互的场景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需要高性能聚合和排序的场景</a:t>
            </a:r>
            <a:endParaRPr lang="zh-CN" altLang="en-US"/>
          </a:p>
          <a:p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6510" y="2657475"/>
            <a:ext cx="6934200" cy="3461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在本实验中的应用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HotCategoryAnalyzer </a:t>
            </a:r>
            <a:r>
              <a:rPr lang="zh-CN" altLang="en-US" b="1"/>
              <a:t>类：</a:t>
            </a:r>
            <a:r>
              <a:rPr lang="zh-CN" altLang="en-US"/>
              <a:t>使用 </a:t>
            </a:r>
            <a:r>
              <a:rPr lang="en-US" altLang="zh-CN"/>
              <a:t>DataFrame </a:t>
            </a:r>
            <a:r>
              <a:rPr lang="zh-CN" altLang="en-US"/>
              <a:t>实现热门类别分析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StructType</a:t>
            </a:r>
            <a:r>
              <a:rPr lang="zh-CN" altLang="en-US"/>
              <a:t>手动定义</a:t>
            </a:r>
            <a:r>
              <a:rPr lang="en-US" altLang="zh-CN"/>
              <a:t> schema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spark.read().csv() </a:t>
            </a:r>
            <a:r>
              <a:rPr lang="zh-CN" altLang="en-US"/>
              <a:t>加载</a:t>
            </a:r>
            <a:r>
              <a:rPr lang="en-US" altLang="zh-CN"/>
              <a:t> TSV </a:t>
            </a:r>
            <a:r>
              <a:rPr lang="zh-CN" altLang="en-US"/>
              <a:t>数据，自动解析为</a:t>
            </a:r>
            <a:r>
              <a:rPr lang="en-US" altLang="zh-CN"/>
              <a:t> DataFrame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withColumn </a:t>
            </a:r>
            <a:r>
              <a:rPr lang="zh-CN" altLang="en-US"/>
              <a:t>添加计算列（标题长度）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groupBy </a:t>
            </a:r>
            <a:r>
              <a:rPr lang="zh-CN" altLang="en-US"/>
              <a:t>和</a:t>
            </a:r>
            <a:r>
              <a:rPr lang="en-US" altLang="zh-CN"/>
              <a:t> agg </a:t>
            </a:r>
            <a:r>
              <a:rPr lang="zh-CN" altLang="en-US"/>
              <a:t>实现分组聚合（文章数、平均标题长度）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withColumn </a:t>
            </a:r>
            <a:r>
              <a:rPr lang="zh-CN" altLang="en-US"/>
              <a:t>计算热门分数，</a:t>
            </a:r>
            <a:r>
              <a:rPr lang="en-US" altLang="zh-CN"/>
              <a:t>orderBy </a:t>
            </a:r>
            <a:r>
              <a:rPr lang="zh-CN" altLang="en-US"/>
              <a:t>排序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体现了</a:t>
            </a:r>
            <a:r>
              <a:rPr lang="en-US" altLang="zh-CN"/>
              <a:t> DataFrame </a:t>
            </a:r>
            <a:r>
              <a:rPr lang="zh-CN" altLang="en-US"/>
              <a:t>在</a:t>
            </a:r>
            <a:r>
              <a:rPr lang="zh-CN" altLang="en-US" b="1"/>
              <a:t>结构化数据分析</a:t>
            </a:r>
            <a:r>
              <a:rPr lang="zh-CN" altLang="en-US"/>
              <a:t>中的简洁性和性能优势</a:t>
            </a:r>
            <a:r>
              <a:rPr lang="en-US" altLang="zh-CN"/>
              <a:t>  </a:t>
            </a:r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1003" y="1179486"/>
            <a:ext cx="9808284" cy="5215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背景介绍（</a:t>
            </a:r>
            <a:r>
              <a:rPr kumimoji="1" lang="en-US" altLang="zh-CN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 MLlib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800"/>
              <a:t>Spark Mllib：</a:t>
            </a:r>
            <a:r>
              <a:rPr lang="zh-CN" altLang="en-US"/>
              <a:t>S</a:t>
            </a:r>
            <a:r>
              <a:rPr lang="en-US" altLang="zh-CN"/>
              <a:t>park </a:t>
            </a:r>
            <a:r>
              <a:rPr lang="zh-CN" altLang="en-US"/>
              <a:t>的机器学习库，提供常用的机器学习算法（如分类、回归、聚类）和工具（如特征提取、模型评估），支持构建端到端的机器学习工作流。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核心特性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基于 </a:t>
            </a:r>
            <a:r>
              <a:rPr lang="en-US" altLang="zh-CN" b="1"/>
              <a:t>DataFrame </a:t>
            </a:r>
            <a:r>
              <a:rPr lang="zh-CN" altLang="en-US" b="1"/>
              <a:t>构建</a:t>
            </a:r>
            <a:endParaRPr lang="zh-CN" altLang="en-US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管道化（</a:t>
            </a:r>
            <a:r>
              <a:rPr lang="en-US" altLang="zh-CN" b="1"/>
              <a:t>Pipeline</a:t>
            </a:r>
            <a:r>
              <a:rPr lang="zh-CN" altLang="en-US" b="1"/>
              <a:t>）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支持复杂数据类型</a:t>
            </a:r>
            <a:endParaRPr lang="zh-CN" altLang="en-US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/>
              <a:t>特征工程工具</a:t>
            </a:r>
            <a:endParaRPr lang="zh-CN" altLang="en-US" b="1"/>
          </a:p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适用场景</a:t>
            </a:r>
            <a:endParaRPr lang="en-US" altLang="zh-CN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文本特征提取（如 </a:t>
            </a:r>
            <a:r>
              <a:rPr lang="en-US" altLang="zh-CN"/>
              <a:t>TF-IDF</a:t>
            </a:r>
            <a:r>
              <a:rPr lang="zh-CN" altLang="en-US"/>
              <a:t>、</a:t>
            </a:r>
            <a:r>
              <a:rPr lang="en-US" altLang="zh-CN"/>
              <a:t>Word2Vec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模型训练与预测（分类、回归、聚类）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大规模机器学习任务（利用 </a:t>
            </a:r>
            <a:r>
              <a:rPr lang="en-US" altLang="zh-CN"/>
              <a:t>Spark </a:t>
            </a:r>
            <a:r>
              <a:rPr lang="zh-CN" altLang="en-US"/>
              <a:t>的分布式计算能力）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35370" y="2566035"/>
            <a:ext cx="5738495" cy="255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在本实验中的应用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HeadlineTFIDF </a:t>
            </a:r>
            <a:r>
              <a:rPr lang="zh-CN" altLang="en-US" b="1"/>
              <a:t>类</a:t>
            </a:r>
            <a:r>
              <a:rPr lang="zh-CN" altLang="en-US"/>
              <a:t>使用 </a:t>
            </a:r>
            <a:r>
              <a:rPr lang="en-US" altLang="zh-CN"/>
              <a:t>MLlib </a:t>
            </a:r>
            <a:r>
              <a:rPr lang="zh-CN" altLang="en-US"/>
              <a:t>实现 </a:t>
            </a:r>
            <a:r>
              <a:rPr lang="en-US" altLang="zh-CN"/>
              <a:t>TF-IDF </a:t>
            </a:r>
            <a:r>
              <a:rPr lang="zh-CN" altLang="en-US"/>
              <a:t>特征提取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kumimoji="1" lang="en-US" altLang="zh-CN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TF-IDF 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算法原理</a:t>
            </a:r>
            <a:endParaRPr kumimoji="1" lang="zh-CN" altLang="en-US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TF (Term Frequency</a:t>
            </a:r>
            <a:r>
              <a:rPr lang="zh-CN" altLang="en-US" b="1"/>
              <a:t>，词频</a:t>
            </a:r>
            <a:r>
              <a:rPr lang="en-US" altLang="zh-CN" b="1"/>
              <a:t>)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IDF (Inverse Document Frequency</a:t>
            </a:r>
            <a:r>
              <a:rPr lang="zh-CN" altLang="en-US" b="1"/>
              <a:t>，逆文档频率</a:t>
            </a:r>
            <a:r>
              <a:rPr lang="en-US" altLang="zh-CN" b="1"/>
              <a:t>)</a:t>
            </a:r>
            <a:endParaRPr lang="en-US" altLang="zh-CN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TF-IDF = TF × IDF</a:t>
            </a:r>
            <a:endParaRPr lang="zh-CN" altLang="en-US"/>
          </a:p>
          <a:p>
            <a:br>
              <a:rPr lang="zh-CN" altLang="en-US"/>
            </a:br>
            <a:endParaRPr lang="zh-CN" altLang="en-US"/>
          </a:p>
          <a:p>
            <a:br>
              <a:rPr lang="zh-CN" altLang="en-US"/>
            </a:br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670" y="813435"/>
            <a:ext cx="11007090" cy="53346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AuthorInfluenceAnalyzer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基于 </a:t>
            </a:r>
            <a:r>
              <a:rPr lang="en-US" altLang="zh-CN" sz="1600"/>
              <a:t>Spark Core RDD</a:t>
            </a:r>
            <a:r>
              <a:rPr lang="zh-CN" altLang="en-US" sz="1600"/>
              <a:t>实现的作者影响力分析类，展示了 </a:t>
            </a:r>
            <a:r>
              <a:rPr lang="en-US" altLang="zh-CN" sz="1600"/>
              <a:t>RDD </a:t>
            </a:r>
            <a:r>
              <a:rPr lang="zh-CN" altLang="en-US" sz="1600"/>
              <a:t>在复杂自定义聚合逻辑中的应用。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数据加载与过滤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Map </a:t>
            </a:r>
            <a:r>
              <a:rPr lang="zh-CN" altLang="en-US" sz="1600"/>
              <a:t>阶段：数据转换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/>
              <a:t>Reduce </a:t>
            </a:r>
            <a:r>
              <a:rPr lang="zh-CN" altLang="en-US" sz="1600"/>
              <a:t>阶段：按 </a:t>
            </a:r>
            <a:r>
              <a:rPr lang="en-US" altLang="zh-CN" sz="1600"/>
              <a:t>Key </a:t>
            </a:r>
            <a:r>
              <a:rPr lang="zh-CN" altLang="en-US" sz="1600"/>
              <a:t>聚合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影响力分数计算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排序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技术难点：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复杂聚合逻辑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Tuple2 </a:t>
            </a:r>
            <a:r>
              <a:rPr lang="zh-CN" altLang="en-US" sz="1600"/>
              <a:t>的使用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函数式编程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sz="1600"/>
              <a:t>1.</a:t>
            </a:r>
            <a:r>
              <a:rPr lang="zh-CN" altLang="en-US" sz="1600"/>
              <a:t> 加载数据 → </a:t>
            </a:r>
            <a:r>
              <a:rPr lang="en-US" altLang="zh-CN" sz="1600"/>
              <a:t>2. </a:t>
            </a:r>
            <a:r>
              <a:rPr lang="zh-CN" altLang="en-US" sz="1600"/>
              <a:t>过滤无效行 → </a:t>
            </a:r>
            <a:r>
              <a:rPr lang="en-US" altLang="zh-CN" sz="1600"/>
              <a:t>3. </a:t>
            </a:r>
            <a:r>
              <a:rPr lang="zh-CN" altLang="en-US" sz="1600"/>
              <a:t>转换为键值对 → </a:t>
            </a:r>
            <a:r>
              <a:rPr lang="en-US" altLang="zh-CN" sz="1600"/>
              <a:t>4. </a:t>
            </a:r>
            <a:r>
              <a:rPr lang="zh-CN" altLang="en-US" sz="1600"/>
              <a:t>按作者聚合 → </a:t>
            </a:r>
            <a:r>
              <a:rPr lang="en-US" altLang="zh-CN" sz="1600"/>
              <a:t>5. </a:t>
            </a:r>
            <a:r>
              <a:rPr lang="zh-CN" altLang="en-US" sz="1600"/>
              <a:t>计算影响力分数 → </a:t>
            </a:r>
            <a:r>
              <a:rPr lang="en-US" altLang="zh-CN" sz="1600"/>
              <a:t>6. </a:t>
            </a:r>
            <a:r>
              <a:rPr lang="zh-CN" altLang="en-US" sz="1600"/>
              <a:t>排序 → </a:t>
            </a:r>
            <a:r>
              <a:rPr lang="en-US" altLang="zh-CN" sz="1600"/>
              <a:t>7. </a:t>
            </a:r>
            <a:r>
              <a:rPr lang="zh-CN" altLang="en-US" sz="1600"/>
              <a:t>返回结果 </a:t>
            </a:r>
            <a:r>
              <a:rPr lang="en-US" altLang="zh-CN" sz="1600"/>
              <a:t>RDD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195" y="2249170"/>
            <a:ext cx="5334000" cy="390334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1670" y="1030605"/>
            <a:ext cx="10670540" cy="5492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HotCategoryAnalyzer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基于 </a:t>
            </a:r>
            <a:r>
              <a:rPr lang="en-US" altLang="zh-CN" sz="1600"/>
              <a:t>Spark DataFrame/SQL </a:t>
            </a:r>
            <a:r>
              <a:rPr lang="zh-CN" altLang="en-US" sz="1600"/>
              <a:t>实现的热门类别分析类，展示了 </a:t>
            </a:r>
            <a:r>
              <a:rPr lang="en-US" altLang="zh-CN" sz="1600"/>
              <a:t>DataFrame </a:t>
            </a:r>
            <a:r>
              <a:rPr lang="zh-CN" altLang="en-US" sz="1600"/>
              <a:t>在结构化数据分析中的简洁性和性能优势。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Schema </a:t>
            </a:r>
            <a:r>
              <a:rPr lang="zh-CN" altLang="en-US" sz="1600"/>
              <a:t>定义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数据加载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添加计算列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分组聚合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计算热门分数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排序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sz="1600"/>
              <a:t>1.</a:t>
            </a:r>
            <a:r>
              <a:rPr lang="zh-CN" altLang="en-US" sz="1600"/>
              <a:t> 定义 </a:t>
            </a:r>
            <a:r>
              <a:rPr lang="en-US" altLang="zh-CN" sz="1600"/>
              <a:t>Schema → 2. </a:t>
            </a:r>
            <a:r>
              <a:rPr lang="zh-CN" altLang="en-US" sz="1600"/>
              <a:t>加载数据 → </a:t>
            </a:r>
            <a:r>
              <a:rPr lang="en-US" altLang="zh-CN" sz="1600"/>
              <a:t>3. </a:t>
            </a:r>
            <a:r>
              <a:rPr lang="zh-CN" altLang="en-US" sz="1600"/>
              <a:t>添加标题长度列 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→ </a:t>
            </a:r>
            <a:r>
              <a:rPr lang="en-US" altLang="zh-CN" sz="1600"/>
              <a:t>4. </a:t>
            </a:r>
            <a:r>
              <a:rPr lang="zh-CN" altLang="en-US" sz="1600"/>
              <a:t>按类别分组聚合 → </a:t>
            </a:r>
            <a:r>
              <a:rPr lang="en-US" altLang="zh-CN" sz="1600"/>
              <a:t>5. </a:t>
            </a:r>
            <a:r>
              <a:rPr lang="zh-CN" altLang="en-US" sz="1600"/>
              <a:t>计算热门分数 → </a:t>
            </a:r>
            <a:r>
              <a:rPr lang="en-US" altLang="zh-CN" sz="1600"/>
              <a:t>6. </a:t>
            </a:r>
            <a:r>
              <a:rPr lang="zh-CN" altLang="en-US" sz="1600"/>
              <a:t>排序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 → </a:t>
            </a:r>
            <a:r>
              <a:rPr lang="en-US" altLang="zh-CN" sz="1600"/>
              <a:t>7. </a:t>
            </a:r>
            <a:r>
              <a:rPr lang="zh-CN" altLang="en-US" sz="1600"/>
              <a:t>返回结果 </a:t>
            </a:r>
            <a:r>
              <a:rPr lang="en-US" altLang="zh-CN" sz="1600"/>
              <a:t>DataFrame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6760" y="2544445"/>
            <a:ext cx="5847080" cy="376110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24203" y="803566"/>
            <a:ext cx="9808284" cy="5908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HeadlineTFIDF </a:t>
            </a:r>
            <a:r>
              <a:rPr lang="zh-CN" altLang="en-US" b="1"/>
              <a:t>类：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展示了 </a:t>
            </a:r>
            <a:r>
              <a:rPr lang="en-US" altLang="zh-CN" sz="1600"/>
              <a:t>MLlib </a:t>
            </a:r>
            <a:r>
              <a:rPr lang="zh-CN" altLang="en-US" sz="1600"/>
              <a:t>在文本特征工程中的应用，这是文本挖掘和机器学习的基础步骤。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Tokenizer</a:t>
            </a:r>
            <a:r>
              <a:rPr lang="zh-CN" altLang="en-US" sz="1600"/>
              <a:t>（分词器）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HashingTF</a:t>
            </a:r>
            <a:r>
              <a:rPr lang="zh-CN" altLang="en-US" sz="1600"/>
              <a:t>（词频计算）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IDF</a:t>
            </a:r>
            <a:r>
              <a:rPr lang="zh-CN" altLang="en-US" sz="1600"/>
              <a:t>（逆文档频率）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结果选择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技术难点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/>
              <a:t>Estimator vs Transformer</a:t>
            </a:r>
            <a:endParaRPr lang="en-US" altLang="zh-CN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稀疏向量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特征维度选择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sz="1600"/>
              <a:t>1.</a:t>
            </a:r>
            <a:r>
              <a:rPr lang="zh-CN" altLang="en-US" sz="1600"/>
              <a:t> 加载数据 → </a:t>
            </a:r>
            <a:r>
              <a:rPr lang="en-US" altLang="zh-CN" sz="1600"/>
              <a:t>2. </a:t>
            </a:r>
            <a:r>
              <a:rPr lang="zh-CN" altLang="en-US" sz="1600"/>
              <a:t>过滤空标题 → </a:t>
            </a:r>
            <a:r>
              <a:rPr lang="en-US" altLang="zh-CN" sz="1600"/>
              <a:t>3. </a:t>
            </a:r>
            <a:r>
              <a:rPr lang="zh-CN" altLang="en-US" sz="1600"/>
              <a:t>分词（</a:t>
            </a:r>
            <a:r>
              <a:rPr lang="en-US" altLang="zh-CN" sz="1600"/>
              <a:t>Tokenizer</a:t>
            </a:r>
            <a:r>
              <a:rPr lang="zh-CN" altLang="en-US" sz="1600"/>
              <a:t>） → </a:t>
            </a:r>
            <a:r>
              <a:rPr lang="en-US" altLang="zh-CN" sz="1600"/>
              <a:t>4. </a:t>
            </a:r>
            <a:r>
              <a:rPr lang="zh-CN" altLang="en-US" sz="1600"/>
              <a:t>计算词频（</a:t>
            </a:r>
            <a:r>
              <a:rPr lang="en-US" altLang="zh-CN" sz="1600"/>
              <a:t>HashingTF</a:t>
            </a:r>
            <a:r>
              <a:rPr lang="zh-CN" altLang="en-US" sz="1600"/>
              <a:t>） → </a:t>
            </a:r>
            <a:r>
              <a:rPr lang="en-US" altLang="zh-CN" sz="1600"/>
              <a:t>5. </a:t>
            </a:r>
            <a:r>
              <a:rPr lang="zh-CN" altLang="en-US" sz="1600"/>
              <a:t>训练 </a:t>
            </a:r>
            <a:r>
              <a:rPr lang="en-US" altLang="zh-CN" sz="1600"/>
              <a:t>IDF </a:t>
            </a:r>
            <a:r>
              <a:rPr lang="zh-CN" altLang="en-US" sz="1600"/>
              <a:t>模型 → </a:t>
            </a:r>
            <a:r>
              <a:rPr lang="en-US" altLang="zh-CN" sz="1600"/>
              <a:t>6. </a:t>
            </a:r>
            <a:r>
              <a:rPr lang="zh-CN" altLang="en-US" sz="1600"/>
              <a:t>应用 </a:t>
            </a:r>
            <a:r>
              <a:rPr lang="en-US" altLang="zh-CN" sz="1600"/>
              <a:t>IDF </a:t>
            </a:r>
            <a:r>
              <a:rPr lang="zh-CN" altLang="en-US" sz="1600"/>
              <a:t>计算 </a:t>
            </a:r>
            <a:r>
              <a:rPr lang="en-US" altLang="zh-CN" sz="1600"/>
              <a:t>TF-IDF → 7. </a:t>
            </a:r>
            <a:r>
              <a:rPr lang="zh-CN" altLang="en-US" sz="1600"/>
              <a:t>选择结果列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275" y="2190115"/>
            <a:ext cx="4695190" cy="362458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98018" y="980673"/>
            <a:ext cx="9808284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实验结果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433755" y="3791758"/>
            <a:ext cx="24090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hot_categories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7280801" y="2021953"/>
            <a:ext cx="24090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author_influence</a:t>
            </a:r>
            <a:endParaRPr lang="en-US" altLang="zh-CN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426589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三、高级分析与机器学习阶段（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Spark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25" y="1485900"/>
            <a:ext cx="1657674" cy="14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610" y="1485900"/>
            <a:ext cx="4328491" cy="14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" y="3155950"/>
            <a:ext cx="3926154" cy="14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b="36687"/>
          <a:stretch>
            <a:fillRect/>
          </a:stretch>
        </p:blipFill>
        <p:spPr>
          <a:xfrm>
            <a:off x="4427220" y="3244850"/>
            <a:ext cx="4466603" cy="144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b="28613"/>
          <a:stretch>
            <a:fillRect/>
          </a:stretch>
        </p:blipFill>
        <p:spPr>
          <a:xfrm>
            <a:off x="598170" y="4928235"/>
            <a:ext cx="3519018" cy="144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340" y="5003800"/>
            <a:ext cx="3489420" cy="1440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48005" y="1493520"/>
            <a:ext cx="6395085" cy="14935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37210" y="3202305"/>
            <a:ext cx="8498840" cy="154622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7685" y="4953635"/>
            <a:ext cx="7216140" cy="1546225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79300" y="5539913"/>
            <a:ext cx="24090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headline_tfidf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1986" y="1178788"/>
            <a:ext cx="9808284" cy="5139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实验概述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本实验作为大数据处理技术项目的终态存储与在线查询阶段，采用 </a:t>
            </a:r>
            <a:r>
              <a:rPr lang="en-US" altLang="zh-CN"/>
              <a:t>Apache HBase </a:t>
            </a:r>
            <a:r>
              <a:rPr lang="zh-CN" altLang="en-US"/>
              <a:t>作为 </a:t>
            </a:r>
            <a:r>
              <a:rPr lang="en-US" altLang="zh-CN"/>
              <a:t>NoSQL </a:t>
            </a:r>
            <a:r>
              <a:rPr lang="zh-CN" altLang="en-US"/>
              <a:t>数据库，存储 </a:t>
            </a:r>
            <a:r>
              <a:rPr lang="en-US" altLang="zh-CN"/>
              <a:t>MapReduce</a:t>
            </a:r>
            <a:r>
              <a:rPr lang="zh-CN" altLang="en-US"/>
              <a:t>、</a:t>
            </a:r>
            <a:r>
              <a:rPr lang="en-US" altLang="zh-CN"/>
              <a:t>Hive</a:t>
            </a:r>
            <a:r>
              <a:rPr lang="zh-CN" altLang="en-US"/>
              <a:t>、</a:t>
            </a:r>
            <a:r>
              <a:rPr lang="en-US" altLang="zh-CN"/>
              <a:t>Spark </a:t>
            </a:r>
            <a:r>
              <a:rPr lang="zh-CN" altLang="en-US"/>
              <a:t>等前置实验的核心分析结果。</a:t>
            </a:r>
            <a:r>
              <a:rPr lang="en-US" altLang="zh-CN"/>
              <a:t>HBase </a:t>
            </a:r>
            <a:r>
              <a:rPr lang="zh-CN" altLang="en-US"/>
              <a:t>是基于 </a:t>
            </a:r>
            <a:r>
              <a:rPr lang="en-US" altLang="zh-CN"/>
              <a:t>HDFS </a:t>
            </a:r>
            <a:r>
              <a:rPr lang="zh-CN" altLang="en-US"/>
              <a:t>的分布式列式数据库，具有高吞吐量写入和毫秒级随机查询的能力，特别适合存储大规模结构化数据并支持快速 </a:t>
            </a:r>
            <a:r>
              <a:rPr lang="en-US" altLang="zh-CN"/>
              <a:t>Key-Value </a:t>
            </a:r>
            <a:r>
              <a:rPr lang="zh-CN" altLang="en-US"/>
              <a:t>查询。</a:t>
            </a:r>
            <a:br>
              <a:rPr lang="zh-CN" altLang="en-US"/>
            </a:br>
            <a:endParaRPr lang="zh-CN" altLang="en-US"/>
          </a:p>
          <a:p>
            <a:r>
              <a:rPr lang="zh-CN" altLang="en-US" sz="2000" b="1">
                <a:solidFill>
                  <a:srgbClr val="7C2326"/>
                </a:solidFill>
              </a:rPr>
              <a:t>核心价值</a:t>
            </a:r>
            <a:endParaRPr lang="en-US" altLang="zh-CN" sz="2000" b="1">
              <a:solidFill>
                <a:srgbClr val="7C2326"/>
              </a:solidFill>
            </a:endParaRPr>
          </a:p>
          <a:p>
            <a:endParaRPr lang="en-US" altLang="zh-CN" sz="2400" b="1">
              <a:solidFill>
                <a:srgbClr val="7C2326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实现大数据流水线的闭环：从 </a:t>
            </a:r>
            <a:r>
              <a:rPr lang="en-US" altLang="zh-CN"/>
              <a:t>MapReduce </a:t>
            </a:r>
            <a:r>
              <a:rPr lang="zh-CN" altLang="en-US"/>
              <a:t>的数据清洗、</a:t>
            </a:r>
            <a:r>
              <a:rPr lang="en-US" altLang="zh-CN"/>
              <a:t>Hive </a:t>
            </a:r>
            <a:r>
              <a:rPr lang="zh-CN" altLang="en-US"/>
              <a:t>的数据仓库分析、</a:t>
            </a:r>
            <a:r>
              <a:rPr lang="en-US" altLang="zh-CN"/>
              <a:t>Spark </a:t>
            </a:r>
            <a:r>
              <a:rPr lang="zh-CN" altLang="en-US"/>
              <a:t>的高级计算，到 </a:t>
            </a:r>
            <a:r>
              <a:rPr lang="en-US" altLang="zh-CN"/>
              <a:t>HBase </a:t>
            </a:r>
            <a:r>
              <a:rPr lang="zh-CN" altLang="en-US"/>
              <a:t>的持久化存储和在线查询，体现了大数据生态系统中不同组件各司其职、协同工作的完整架构。</a:t>
            </a:r>
            <a:endParaRPr lang="zh-CN" altLang="en-US"/>
          </a:p>
          <a:p>
            <a:endParaRPr lang="en-US" altLang="zh-CN" sz="2400" b="1">
              <a:solidFill>
                <a:srgbClr val="7C2326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08330" y="1049655"/>
            <a:ext cx="5716905" cy="45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实验目标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zh-CN" altLang="en-US" b="1"/>
              <a:t>设计适配的 </a:t>
            </a:r>
            <a:r>
              <a:rPr lang="en-US" altLang="zh-CN" b="1"/>
              <a:t>HBase </a:t>
            </a:r>
            <a:r>
              <a:rPr lang="zh-CN" altLang="en-US" b="1"/>
              <a:t>表结构</a:t>
            </a:r>
            <a:br>
              <a:rPr lang="zh-CN" altLang="en-US"/>
            </a:b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zh-CN" altLang="en-US" b="1"/>
              <a:t>通过 </a:t>
            </a:r>
            <a:r>
              <a:rPr lang="en-US" altLang="zh-CN" b="1"/>
              <a:t>Java API </a:t>
            </a:r>
            <a:r>
              <a:rPr lang="zh-CN" altLang="en-US" b="1"/>
              <a:t>实现批量写入</a:t>
            </a:r>
            <a:br>
              <a:rPr lang="zh-CN" altLang="en-US"/>
            </a:b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3.</a:t>
            </a:r>
            <a:r>
              <a:rPr lang="zh-CN" altLang="en-US"/>
              <a:t> </a:t>
            </a:r>
            <a:r>
              <a:rPr lang="zh-CN" altLang="en-US" b="1"/>
              <a:t>基于 </a:t>
            </a:r>
            <a:r>
              <a:rPr lang="en-US" altLang="zh-CN" b="1"/>
              <a:t>HBase Shell/Java API </a:t>
            </a:r>
            <a:r>
              <a:rPr lang="zh-CN" altLang="en-US" b="1"/>
              <a:t>完成快速查询验证</a:t>
            </a:r>
            <a:endParaRPr lang="zh-CN" altLang="en-US"/>
          </a:p>
          <a:p>
            <a:pPr>
              <a:lnSpc>
                <a:spcPct val="150000"/>
              </a:lnSpc>
            </a:pPr>
            <a:br>
              <a:rPr lang="zh-CN" altLang="en-US"/>
            </a:br>
            <a:r>
              <a:rPr lang="en-US" altLang="zh-CN"/>
              <a:t>4.</a:t>
            </a:r>
            <a:r>
              <a:rPr lang="zh-CN" altLang="en-US"/>
              <a:t> </a:t>
            </a:r>
            <a:r>
              <a:rPr lang="zh-CN" altLang="en-US" b="1"/>
              <a:t>将 </a:t>
            </a:r>
            <a:r>
              <a:rPr lang="en-US" altLang="zh-CN" b="1"/>
              <a:t>HBase </a:t>
            </a:r>
            <a:r>
              <a:rPr lang="zh-CN" altLang="en-US" b="1"/>
              <a:t>操作结果推送至 </a:t>
            </a:r>
            <a:r>
              <a:rPr lang="en-US" altLang="zh-CN" b="1"/>
              <a:t>GitHub</a:t>
            </a:r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80" y="1673225"/>
            <a:ext cx="5074920" cy="4302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78146" y="1131077"/>
            <a:ext cx="980828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 </a:t>
            </a: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表结构设计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10" y="1812925"/>
            <a:ext cx="7440306" cy="4320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149590" y="1791970"/>
            <a:ext cx="3914140" cy="40697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数据映射规则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新闻</a:t>
            </a:r>
            <a:r>
              <a:rPr lang="en-US" altLang="zh-CN" b="1"/>
              <a:t> ID </a:t>
            </a:r>
            <a:r>
              <a:rPr lang="zh-CN" altLang="en-US" b="1"/>
              <a:t>生成：</a:t>
            </a:r>
            <a:r>
              <a:rPr lang="zh-CN" altLang="en-US"/>
              <a:t>对</a:t>
            </a:r>
            <a:r>
              <a:rPr lang="en-US" altLang="zh-CN"/>
              <a:t> Spark TF-IDF </a:t>
            </a:r>
            <a:r>
              <a:rPr lang="zh-CN" altLang="en-US"/>
              <a:t>结果中的每条标题，按</a:t>
            </a:r>
            <a:r>
              <a:rPr lang="en-US" altLang="zh-CN"/>
              <a:t> “headline_</a:t>
            </a:r>
            <a:r>
              <a:rPr lang="zh-CN" altLang="en-US"/>
              <a:t>序号</a:t>
            </a:r>
            <a:r>
              <a:rPr lang="en-US" altLang="zh-CN"/>
              <a:t>” </a:t>
            </a:r>
            <a:r>
              <a:rPr lang="zh-CN" altLang="en-US"/>
              <a:t>生成唯一</a:t>
            </a:r>
            <a:r>
              <a:rPr lang="en-US" altLang="zh-CN"/>
              <a:t> ID</a:t>
            </a:r>
            <a:r>
              <a:rPr lang="zh-CN" altLang="en-US"/>
              <a:t>；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数值类型转换：</a:t>
            </a:r>
            <a:r>
              <a:rPr lang="en-US" altLang="zh-CN"/>
              <a:t>Hive/Spark </a:t>
            </a:r>
            <a:r>
              <a:rPr lang="zh-CN" altLang="en-US"/>
              <a:t>结果中的</a:t>
            </a:r>
            <a:r>
              <a:rPr lang="en-US" altLang="zh-CN"/>
              <a:t> Int/Double </a:t>
            </a:r>
            <a:r>
              <a:rPr lang="zh-CN" altLang="en-US"/>
              <a:t>类型直接存储，</a:t>
            </a:r>
            <a:r>
              <a:rPr lang="en-US" altLang="zh-CN"/>
              <a:t>TF-IDF </a:t>
            </a:r>
            <a:r>
              <a:rPr lang="zh-CN" altLang="en-US"/>
              <a:t>向量以逗号分隔的字符串存储；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RowKey </a:t>
            </a:r>
            <a:r>
              <a:rPr lang="zh-CN" altLang="en-US" b="1"/>
              <a:t>设计原则：</a:t>
            </a:r>
            <a:r>
              <a:rPr lang="zh-CN" altLang="en-US"/>
              <a:t>确保唯一标识，支持快速精准查询。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en-US" altLang="zh-CN" sz="2400">
              <a:solidFill>
                <a:srgbClr val="7C232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19430" y="876300"/>
            <a:ext cx="9808210" cy="417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latin typeface="+mj-lt"/>
                <a:ea typeface="+mj-ea"/>
                <a:cs typeface="+mj-cs"/>
              </a:rPr>
              <a:t>通过 </a:t>
            </a:r>
            <a:r>
              <a:rPr kumimoji="1" lang="en-US" altLang="zh-CN" sz="2000" b="1">
                <a:latin typeface="+mj-lt"/>
                <a:ea typeface="+mj-ea"/>
                <a:cs typeface="+mj-cs"/>
              </a:rPr>
              <a:t>HBase Shell </a:t>
            </a:r>
            <a:r>
              <a:rPr kumimoji="1" lang="zh-CN" altLang="en-US" sz="2000" b="1">
                <a:latin typeface="+mj-lt"/>
                <a:ea typeface="+mj-ea"/>
                <a:cs typeface="+mj-cs"/>
              </a:rPr>
              <a:t>创建表</a:t>
            </a:r>
            <a:endParaRPr kumimoji="1" lang="en-US" altLang="zh-CN" sz="2000" b="1"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endParaRPr lang="zh-CN" altLang="en-US" b="1"/>
          </a:p>
          <a:p>
            <a:pPr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创建作者影响力表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create 'news_author_influence', 'profile'</a:t>
            </a:r>
            <a:br>
              <a:rPr lang="en-US" altLang="zh-CN"/>
            </a:b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创建热门类别表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create 'news_category_hot', 'stats'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3. </a:t>
            </a:r>
            <a:r>
              <a:rPr lang="zh-CN" altLang="en-US"/>
              <a:t>创建</a:t>
            </a:r>
            <a:r>
              <a:rPr lang="en-US" altLang="zh-CN"/>
              <a:t>TF-IDF</a:t>
            </a:r>
            <a:r>
              <a:rPr lang="zh-CN" altLang="en-US"/>
              <a:t>向量表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create 'news_headline_tfidf', 'vector'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4. </a:t>
            </a:r>
            <a:r>
              <a:rPr lang="zh-CN" altLang="en-US"/>
              <a:t>创建年度统计表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create 'news_yearly_stats', 'metrics'</a:t>
            </a:r>
            <a:endParaRPr lang="zh-CN" altLang="en-US" sz="1600"/>
          </a:p>
          <a:p>
            <a:endParaRPr lang="zh-CN" altLang="en-US"/>
          </a:p>
          <a:p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kumimoji="1" lang="zh-CN" altLang="en-US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850" y="1927907"/>
            <a:ext cx="5544254" cy="221382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50" y="4295586"/>
            <a:ext cx="6502644" cy="1946267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8790" y="886460"/>
            <a:ext cx="11333480" cy="5492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HBaseDataWriter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负责将 </a:t>
            </a:r>
            <a:r>
              <a:rPr lang="en-US" altLang="zh-CN" sz="1600"/>
              <a:t>HDFS </a:t>
            </a:r>
            <a:r>
              <a:rPr lang="zh-CN" altLang="en-US" sz="1600"/>
              <a:t>上存储的 </a:t>
            </a:r>
            <a:r>
              <a:rPr lang="en-US" altLang="zh-CN" sz="1600"/>
              <a:t>Spark/Hive </a:t>
            </a:r>
            <a:r>
              <a:rPr lang="zh-CN" altLang="en-US" sz="1600"/>
              <a:t>分析结果批量写入 </a:t>
            </a:r>
            <a:r>
              <a:rPr lang="en-US" altLang="zh-CN" sz="1600"/>
              <a:t>HBase </a:t>
            </a:r>
            <a:r>
              <a:rPr lang="zh-CN" altLang="en-US" sz="1600"/>
              <a:t>对应表中，实现</a:t>
            </a:r>
            <a:r>
              <a:rPr lang="en-US" altLang="zh-CN" sz="1600"/>
              <a:t>"</a:t>
            </a:r>
            <a:r>
              <a:rPr lang="zh-CN" altLang="en-US" sz="1600"/>
              <a:t>计算结果→存储</a:t>
            </a:r>
            <a:r>
              <a:rPr lang="en-US" altLang="zh-CN" sz="1600"/>
              <a:t>"</a:t>
            </a:r>
            <a:r>
              <a:rPr lang="zh-CN" altLang="en-US" sz="1600"/>
              <a:t>的数据流转。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配置管理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资源管理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多文件读取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数据格式解析</a:t>
            </a:r>
            <a:endParaRPr lang="zh-CN" altLang="en-US" sz="16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作者影响力数据</a:t>
            </a:r>
            <a:endParaRPr lang="zh-CN" altLang="en-US" sz="16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热门类别数据</a:t>
            </a:r>
            <a:endParaRPr lang="zh-CN" altLang="en-US" sz="16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年度统计数据</a:t>
            </a:r>
            <a:endParaRPr lang="zh-CN" altLang="en-US" sz="16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标题平均长度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zh-CN" altLang="en-US" b="1"/>
          </a:p>
          <a:p>
            <a:pPr>
              <a:lnSpc>
                <a:spcPct val="150000"/>
              </a:lnSpc>
            </a:pPr>
            <a:r>
              <a:rPr lang="zh-CN" altLang="en-US" sz="1600"/>
              <a:t>1. 初始化配置 → 2. 建立连接 → 3. 遍历 HDFS 文件 → 4. 解析数据格式 → 5. 创建 Put 对象 → 6. 写入 HBase → 7. 关闭资源</a:t>
            </a:r>
            <a:endParaRPr lang="zh-CN" altLang="en-US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9410" y="2320925"/>
            <a:ext cx="4992370" cy="3509645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5974" y="713577"/>
            <a:ext cx="9808284" cy="5908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核心代码</a:t>
            </a:r>
            <a:endParaRPr kumimoji="1" lang="en-US" altLang="zh-CN" sz="20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b="1"/>
              <a:t>HBaseQuery </a:t>
            </a:r>
            <a:r>
              <a:rPr lang="zh-CN" altLang="en-US" b="1"/>
              <a:t>类：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zh-CN" altLang="en-US" sz="1600"/>
              <a:t>负责通过 </a:t>
            </a:r>
            <a:r>
              <a:rPr lang="en-US" altLang="zh-CN" sz="1600"/>
              <a:t>HBase Java API </a:t>
            </a:r>
            <a:r>
              <a:rPr lang="zh-CN" altLang="en-US" sz="1600"/>
              <a:t>查询已写入的数据，验证数据正确性并生成可读报告。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核心设计要点</a:t>
            </a:r>
            <a:endParaRPr lang="zh-CN" alt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查询设计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查询执行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数据解析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结果输出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/>
              <a:t>资源管理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技术难点</a:t>
            </a:r>
            <a:r>
              <a:rPr lang="zh-CN" altLang="en-US"/>
              <a:t>：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字节数组转换</a:t>
            </a:r>
            <a:endParaRPr lang="zh-CN" altLang="en-US" sz="1600"/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空值处理</a:t>
            </a:r>
            <a:endParaRPr lang="zh-CN" altLang="en-US" sz="1600"/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多表查询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b="1"/>
              <a:t>执行流程：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 sz="1600"/>
              <a:t>1.</a:t>
            </a:r>
            <a:r>
              <a:rPr lang="zh-CN" altLang="en-US" sz="1600"/>
              <a:t> 初始化配置和文件输出流 → </a:t>
            </a:r>
            <a:r>
              <a:rPr lang="en-US" altLang="zh-CN" sz="1600"/>
              <a:t>2. </a:t>
            </a:r>
            <a:r>
              <a:rPr lang="zh-CN" altLang="en-US" sz="1600"/>
              <a:t>建立 </a:t>
            </a:r>
            <a:r>
              <a:rPr lang="en-US" altLang="zh-CN" sz="1600"/>
              <a:t>HBase </a:t>
            </a:r>
            <a:r>
              <a:rPr lang="zh-CN" altLang="en-US" sz="1600"/>
              <a:t>连接 → </a:t>
            </a:r>
            <a:r>
              <a:rPr lang="en-US" altLang="zh-CN" sz="1600"/>
              <a:t>3. </a:t>
            </a:r>
            <a:r>
              <a:rPr lang="zh-CN" altLang="en-US" sz="1600"/>
              <a:t>执行多个查询 → </a:t>
            </a:r>
            <a:r>
              <a:rPr lang="en-US" altLang="zh-CN" sz="1600"/>
              <a:t>4. </a:t>
            </a:r>
            <a:r>
              <a:rPr lang="zh-CN" altLang="en-US" sz="1600"/>
              <a:t>解析结果并输出 → </a:t>
            </a:r>
            <a:r>
              <a:rPr lang="en-US" altLang="zh-CN" sz="1600"/>
              <a:t>5. </a:t>
            </a:r>
            <a:r>
              <a:rPr lang="zh-CN" altLang="en-US" sz="1600"/>
              <a:t>关闭资源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146" y="2263334"/>
            <a:ext cx="7144577" cy="366418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98018" y="1072113"/>
            <a:ext cx="980828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实验结果</a:t>
            </a:r>
            <a:endParaRPr kumimoji="1" lang="en-US" altLang="zh-CN" sz="2400" b="1">
              <a:solidFill>
                <a:srgbClr val="7C23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390" y="1646972"/>
            <a:ext cx="4747614" cy="21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45" y="3877945"/>
            <a:ext cx="3782949" cy="216000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003" y="399284"/>
            <a:ext cx="10129267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SzPct val="90000"/>
              <a:buFont typeface="Webdings" panose="05030102010509060703" pitchFamily="18" charset="2"/>
              <a:buChar char=""/>
              <a:tabLst>
                <a:tab pos="266700" algn="l"/>
              </a:tabLst>
              <a:defRPr sz="2000">
                <a:solidFill>
                  <a:srgbClr val="356E94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tabLst>
                <a:tab pos="266700" algn="l"/>
              </a:tabLst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 sz="20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66700" algn="l"/>
              </a:tabLst>
              <a:defRPr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四、终态存储与在线查询阶段（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HBase</a:t>
            </a:r>
            <a:r>
              <a:rPr kumimoji="1" lang="zh-CN" altLang="en-US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）</a:t>
            </a:r>
            <a:r>
              <a:rPr kumimoji="1" lang="en-US" altLang="zh-CN" sz="2400" b="1">
                <a:solidFill>
                  <a:srgbClr val="7C2326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</a:t>
            </a:r>
            <a:endParaRPr kumimoji="1" lang="zh-CN" altLang="en-US" sz="24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465" y="1647190"/>
            <a:ext cx="5016521" cy="43200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024271" y="6116433"/>
            <a:ext cx="24090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HBase Shell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183011" y="6116433"/>
            <a:ext cx="24090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Java API</a:t>
            </a:r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iSḻiḋ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>
          <a:xfrm>
            <a:off x="610314" y="3104956"/>
            <a:ext cx="10971372" cy="6480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4000" b="1" dirty="0">
                <a:solidFill>
                  <a:srgbClr val="7C1D20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zh-CN" altLang="en-US" sz="4000" b="1" dirty="0">
              <a:solidFill>
                <a:srgbClr val="7C1D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TEMPLATE" val="https://www.islide.cc;"/>
</p:tagLst>
</file>

<file path=ppt/tags/tag2.xml><?xml version="1.0" encoding="utf-8"?>
<p:tagLst xmlns:p="http://schemas.openxmlformats.org/presentationml/2006/main">
  <p:tag name="ISLIDE.THEME" val="https://www.islide.cc;"/>
  <p:tag name="ISLIDE.TEMPLATE" val="https://www.islide.cc;"/>
</p:tagLst>
</file>

<file path=ppt/tags/tag3.xml><?xml version="1.0" encoding="utf-8"?>
<p:tagLst xmlns:p="http://schemas.openxmlformats.org/presentationml/2006/main">
  <p:tag name="ISLIDE.TEMPLATE" val="#561427"/>
  <p:tag name="COMMONDATA" val="eyJoZGlkIjoiNjg2OGQ2ODZjODU5OTczZWMyZDliMmRkMDUwZmUxZmEifQ=="/>
  <p:tag name="KSO_WPP_MARK_KEY" val="9efb8170-cb77-48f3-af04-9a5c9b676aa3"/>
</p:tagLst>
</file>

<file path=ppt/theme/theme1.xml><?xml version="1.0" encoding="utf-8"?>
<a:theme xmlns:a="http://schemas.openxmlformats.org/drawingml/2006/main" name="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92F4"/>
      </a:accent1>
      <a:accent2>
        <a:srgbClr val="0C77E2"/>
      </a:accent2>
      <a:accent3>
        <a:srgbClr val="ECEFF2"/>
      </a:accent3>
      <a:accent4>
        <a:srgbClr val="F4F4F5"/>
      </a:accent4>
      <a:accent5>
        <a:srgbClr val="24415F"/>
      </a:accent5>
      <a:accent6>
        <a:srgbClr val="46607C"/>
      </a:accent6>
      <a:hlink>
        <a:srgbClr val="DC0726"/>
      </a:hlink>
      <a:folHlink>
        <a:srgbClr val="8B8B8B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3392F4"/>
    </a:accent1>
    <a:accent2>
      <a:srgbClr val="0C77E2"/>
    </a:accent2>
    <a:accent3>
      <a:srgbClr val="ECEFF2"/>
    </a:accent3>
    <a:accent4>
      <a:srgbClr val="F4F4F5"/>
    </a:accent4>
    <a:accent5>
      <a:srgbClr val="24415F"/>
    </a:accent5>
    <a:accent6>
      <a:srgbClr val="46607C"/>
    </a:accent6>
    <a:hlink>
      <a:srgbClr val="DC0726"/>
    </a:hlink>
    <a:folHlink>
      <a:srgbClr val="8B8B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Mu</Template>
  <TotalTime>0</TotalTime>
  <Words>7879</Words>
  <Application>WPS 演示</Application>
  <PresentationFormat>宽屏</PresentationFormat>
  <Paragraphs>555</Paragraphs>
  <Slides>35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宋体</vt:lpstr>
      <vt:lpstr>Wingdings</vt:lpstr>
      <vt:lpstr>Webdings</vt:lpstr>
      <vt:lpstr>Calibri</vt:lpstr>
      <vt:lpstr>幼圆</vt:lpstr>
      <vt:lpstr>微软雅黑</vt:lpstr>
      <vt:lpstr>Arial Unicode MS</vt:lpstr>
      <vt:lpstr>等线</vt:lpstr>
      <vt:lpstr>等线 Light</vt:lpstr>
      <vt:lpstr>SourceHanSansSC</vt:lpstr>
      <vt:lpstr>Arial</vt:lpstr>
      <vt:lpstr>Segoe Print</vt:lpstr>
      <vt:lpstr>主题1</vt:lpstr>
      <vt:lpstr>新闻大数据多维分析与智能挖掘  基于MapReduce、Hive、Spark、Hbase的端到端数据处理流水线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 Standard Template</dc:title>
  <dc:creator>Mu</dc:creator>
  <cp:lastModifiedBy>陈双双</cp:lastModifiedBy>
  <cp:revision>767</cp:revision>
  <cp:lastPrinted>2023-10-07T09:59:00Z</cp:lastPrinted>
  <dcterms:created xsi:type="dcterms:W3CDTF">2021-03-11T16:00:00Z</dcterms:created>
  <dcterms:modified xsi:type="dcterms:W3CDTF">2025-12-15T08:33:16Z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3892ee0d-9370-4a4f-9675-2f667d99649e</vt:lpwstr>
  </property>
  <property fmtid="{D5CDD505-2E9C-101B-9397-08002B2CF9AE}" pid="3" name="ICV">
    <vt:lpwstr>FA6DFA1F21BF4B43AF02AF317D2B3280_13</vt:lpwstr>
  </property>
  <property fmtid="{D5CDD505-2E9C-101B-9397-08002B2CF9AE}" pid="4" name="KSOProductBuildVer">
    <vt:lpwstr>2052-12.1.0.19302</vt:lpwstr>
  </property>
</Properties>
</file>